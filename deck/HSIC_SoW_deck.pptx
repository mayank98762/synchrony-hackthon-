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ain deck" id="{cb1485c9-53a4-a8f1-abb7-e893ed73719b}">
          <p14:sldIdLst>
            <p14:sldId id="256"/>
            <p14:sldId id="257"/>
            <p14:sldId id="258"/>
            <p14:sldId id="259"/>
            <p14:sldId id="260"/>
            <p14:sldId id="26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HSIC's share of MetroMart spend fell by a third in a year, and it isn't a group of customers drifting away: it's everyone, at the same rate, while they keep shopping at MetroMart as much as before. That changes the answer. A target list of at-risk customers would be chosen at random, so the first fixes are product fixes that reach every basket. We price every offer net of the rewards HSIC already pays, because that margin is thin, and we pilot before scaling.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share fell from 28.9% to 19.5% in a straight line, and the bridge shows it isn't mix: cards that stayed open account for the whole fall. Spend per card at MetroMart was flat, while HSIC spend per card more than halved. Almost half of the lost share went to Cash/UPI, at every ticket size, and much more strongly for cardholders than for the market. Why customers pick Cash/UPI is a hypothesis, immediacy, which the instant-cashback pilot arm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slice fell by 7 to 11 points: Prime and Non-Prime, every age, limit, APR band, vintage and category. Before segmenting, we tested whether customers differ at all: the spread in card use between customers is what coin flips produce, and this year's share doesn't predict next year's. The usual silent-attrition count flags about a fifth of cardholders; allow for the portfolio-wide trend and the excess is zero. Silent attrition is real, and it is universal.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Closures are the visible half and they are accelerating: the share of open cards closing each quarter doubled. Cards under six months close at 14.7% over the next six months, 4.8 times cards over three years, and no learned model beats card age alone, so the early warning is a rule: protect first-year cards. To answer the brief's segmentation question, we build a 2×2 on the two traits that do predict, card age for risk and purchase frequency for value. SoW is the same in every box; risk and value are not. Young, high-frequency cards come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 with reward visibility because it is the cheapest lever: HSIC already pays the best Grocery and Electronics rates in the market, and Prime members still don't use the card more. Making the reward visible costs nothing extra; whether it works is exactly what the pilot tests. Instant cashback and the card on UPI go after the Cash/UPI habit. Paid offers come after, and only where they pay back: a blanket no-cost EMI needs most big-basket spend to move, and a threshold bonus mostly pays for spend that would have happened anyway.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Rewards eat most of the interchange, so a rupee moved to the card is worth about two paise in the base case and can lose money on Prime grocery. That is why reward visibility leads: it adds no cost. Every paid offer shows the shift it needs to pay back, and we say never where it can't. Nothing here is a forecast of recovery; the pilot turns these simulations into measured results, and it is sized honestly: effects under about two points need the whole grid.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3F5F8"/>
        </a:solidFill>
      </p:bgPr>
    </p:bg>
    <p:spTree>
      <p:nvGrpSpPr>
        <p:cNvPr id="1" name=""/>
        <p:cNvGrpSpPr/>
        <p:nvPr/>
      </p:nvGrpSpPr>
      <p:grpSpPr>
        <a:xfrm>
          <a:off x="0" y="0"/>
          <a:ext cx="0" cy="0"/>
          <a:chOff x="0" y="0"/>
          <a:chExt cx="0" cy="0"/>
        </a:xfrm>
      </p:grpSpPr>
      <p:sp>
        <p:nvSpPr>
          <p:cNvPr id="2" name="Text 0"/>
          <p:cNvSpPr/>
          <p:nvPr/>
        </p:nvSpPr>
        <p:spPr>
          <a:xfrm>
            <a:off x="457200" y="6446520"/>
            <a:ext cx="10332720" cy="274320"/>
          </a:xfrm>
          <a:prstGeom prst="rect">
            <a:avLst/>
          </a:prstGeom>
          <a:noFill/>
          <a:ln/>
        </p:spPr>
        <p:txBody>
          <a:bodyPr wrap="square" lIns="0" tIns="0" rIns="0" bIns="0" rtlCol="0" anchor="ctr"/>
          <a:lstStyle/>
          <a:p>
            <a:pPr indent="0" marL="0">
              <a:buNone/>
            </a:pPr>
            <a:r>
              <a:rPr lang="en-US" sz="1000" dirty="0">
                <a:solidFill>
                  <a:srgbClr val="898781"/>
                </a:solidFill>
              </a:rPr>
              <a:t>HSIC × MetroMart case data · FY25 = Aug 2024–Jul 2025 · FY26 = Aug 2025–Jul 2026 · M Measured · S Simulated · A Assumed · H Hypothesis</a:t>
            </a:r>
            <a:endParaRPr lang="en-US" sz="1000" dirty="0"/>
          </a:p>
        </p:txBody>
      </p:sp>
      <p:sp>
        <p:nvSpPr>
          <p:cNvPr id="3" name="Text 1"/>
          <p:cNvSpPr/>
          <p:nvPr>
            <p:ph idx="101" type="title" hasCustomPrompt="1"/>
          </p:nvPr>
        </p:nvSpPr>
        <p:spPr>
          <a:xfrm>
            <a:off x="457200" y="320040"/>
            <a:ext cx="11247120" cy="868680"/>
          </a:xfrm>
          <a:prstGeom prst="rect">
            <a:avLst/>
          </a:prstGeom>
          <a:noFill/>
          <a:ln/>
        </p:spPr>
        <p:txBody>
          <a:bodyPr wrap="square" rtlCol="0"/>
          <a:lstStyle>
            <a:lvl1pPr indent="0" marL="0">
              <a:buNone/>
              <a:defRPr lang="en-US" sz="2400" b="1" dirty="0">
                <a:solidFill>
                  <a:srgbClr val="0F2747"/>
                </a:solidFill>
              </a:defRPr>
            </a:lvl1pPr>
          </a:lstStyle>
          <a:p>
            <a:pPr indent="0" marL="0">
              <a:buNone/>
            </a:pPr>
            <a:endParaRPr lang="en-US" sz="2400" dirty="0"/>
          </a:p>
        </p:txBody>
      </p:sp>
      <p:sp>
        <p:nvSpPr>
          <p:cNvPr id="25" name="Slide Number Placeholder 0"/>
          <p:cNvSpPr>
            <a:spLocks noGrp="1"/>
          </p:cNvSpPr>
          <p:nvPr>
            <p:ph type="sldNum" sz="quarter" idx="4294967295"/>
          </p:nvPr>
        </p:nvSpPr>
        <p:spPr>
          <a:xfrm>
            <a:off x="11338560" y="6446520"/>
            <a:ext cx="39319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98781"/>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0F2747"/>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548640"/>
            <a:ext cx="11247120" cy="1188720"/>
          </a:xfrm>
          <a:prstGeom prst="rect">
            <a:avLst/>
          </a:prstGeom>
          <a:noFill/>
          <a:ln/>
        </p:spPr>
        <p:txBody>
          <a:bodyPr wrap="square" rtlCol="0"/>
          <a:lstStyle>
            <a:lvl1pPr indent="0" marL="0">
              <a:buNone/>
              <a:defRPr lang="en-US" sz="3000" b="1" dirty="0">
                <a:solidFill>
                  <a:srgbClr val="FFFFFF"/>
                </a:solidFill>
              </a:defRPr>
            </a:lvl1pPr>
          </a:lstStyle>
          <a:p>
            <a:pPr indent="0" marL="0">
              <a:buNone/>
            </a:pPr>
            <a:endParaRPr lang="en-US" sz="3000" dirty="0"/>
          </a:p>
        </p:txBody>
      </p:sp>
      <p:sp>
        <p:nvSpPr>
          <p:cNvPr id="25" name="Slide Number Placeholder 0"/>
          <p:cNvSpPr>
            <a:spLocks noGrp="1"/>
          </p:cNvSpPr>
          <p:nvPr>
            <p:ph type="sldNum" sz="quarter" idx="4294967295"/>
          </p:nvPr>
        </p:nvSpPr>
        <p:spPr>
          <a:xfrm>
            <a:off x="11338560" y="6446520"/>
            <a:ext cx="39319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EB8C8"/>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338560" y="6446520"/>
            <a:ext cx="39319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98781"/>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457200" y="274320"/>
            <a:ext cx="11247120" cy="274320"/>
          </a:xfrm>
          <a:prstGeom prst="rect">
            <a:avLst/>
          </a:prstGeom>
          <a:noFill/>
          <a:ln/>
        </p:spPr>
        <p:txBody>
          <a:bodyPr wrap="square" lIns="0" tIns="0" rIns="0" bIns="0" rtlCol="0" anchor="t"/>
          <a:lstStyle/>
          <a:p>
            <a:pPr indent="0" marL="0">
              <a:buNone/>
            </a:pPr>
            <a:r>
              <a:rPr lang="en-US" sz="1200" dirty="0">
                <a:solidFill>
                  <a:srgbClr val="AEB8C8"/>
                </a:solidFill>
              </a:rPr>
              <a:t>Synchrony Analytics Hackathon 2026  ·  HSIC × MetroMart co-branded card</a:t>
            </a:r>
            <a:endParaRPr lang="en-US" sz="1200" dirty="0"/>
          </a:p>
        </p:txBody>
      </p:sp>
      <p:sp>
        <p:nvSpPr>
          <p:cNvPr id="3" name="Text 0"/>
          <p:cNvSpPr/>
          <p:nvPr>
            <p:ph idx="100" type="title" hasCustomPrompt="1"/>
          </p:nvPr>
        </p:nvSpPr>
        <p:spPr>
          <a:xfrm>
            <a:off x="457200" y="548640"/>
            <a:ext cx="11247120" cy="1188720"/>
          </a:xfrm>
          <a:prstGeom prst="rect">
            <a:avLst/>
          </a:prstGeom>
          <a:noFill/>
          <a:ln/>
        </p:spPr>
        <p:txBody>
          <a:bodyPr wrap="square" lIns="0" tIns="0" rIns="0" bIns="0" rtlCol="0" anchor="t"/>
          <a:lstStyle/>
          <a:p>
            <a:pPr indent="0" marL="0">
              <a:buNone/>
            </a:pPr>
            <a:r>
              <a:rPr lang="en-US" sz="3000" b="1" dirty="0">
                <a:solidFill>
                  <a:srgbClr val="FFFFFF"/>
                </a:solidFill>
              </a:rPr>
              <a:t>Silent attrition is universal: win back the wallet with product fixes, not a target list</a:t>
            </a:r>
            <a:endParaRPr lang="en-US" sz="3000" dirty="0"/>
          </a:p>
        </p:txBody>
      </p:sp>
      <p:sp>
        <p:nvSpPr>
          <p:cNvPr id="4" name="Shape 2"/>
          <p:cNvSpPr/>
          <p:nvPr/>
        </p:nvSpPr>
        <p:spPr>
          <a:xfrm>
            <a:off x="457200" y="1965960"/>
            <a:ext cx="3566160" cy="1691640"/>
          </a:xfrm>
          <a:prstGeom prst="roundRect">
            <a:avLst>
              <a:gd name="adj" fmla="val 4324"/>
            </a:avLst>
          </a:prstGeom>
          <a:solidFill>
            <a:srgbClr val="1C3A63"/>
          </a:solidFill>
          <a:ln w="12700">
            <a:solidFill>
              <a:srgbClr val="1C3A63"/>
            </a:solidFill>
            <a:prstDash val="solid"/>
          </a:ln>
          <a:effectLst>
            <a:outerShdw sx="100000" sy="100000" kx="0" ky="0" algn="bl" rotWithShape="0" blurRad="76200" dist="25400" dir="5400000">
              <a:srgbClr val="000000">
                <a:alpha val="12000"/>
              </a:srgbClr>
            </a:outerShdw>
          </a:effectLst>
        </p:spPr>
      </p:sp>
      <p:sp>
        <p:nvSpPr>
          <p:cNvPr id="5" name="Text 3"/>
          <p:cNvSpPr txBox="1"/>
          <p:nvPr/>
        </p:nvSpPr>
        <p:spPr>
          <a:xfrm>
            <a:off x="685800" y="2103120"/>
            <a:ext cx="2834640" cy="594360"/>
          </a:xfrm>
          <a:prstGeom prst="rect">
            <a:avLst/>
          </a:prstGeom>
          <a:noFill/>
          <a:ln/>
        </p:spPr>
        <p:txBody>
          <a:bodyPr wrap="square" lIns="0" tIns="0" rIns="0" bIns="0" rtlCol="0" anchor="t"/>
          <a:lstStyle/>
          <a:p>
            <a:pPr indent="0" marL="0">
              <a:buNone/>
            </a:pPr>
            <a:r>
              <a:rPr lang="en-US" sz="3000" b="1" dirty="0">
                <a:solidFill>
                  <a:srgbClr val="FFFFFF"/>
                </a:solidFill>
              </a:rPr>
              <a:t>28.9% → 19.5%</a:t>
            </a:r>
            <a:endParaRPr lang="en-US" sz="3000" dirty="0"/>
          </a:p>
        </p:txBody>
      </p:sp>
      <p:sp>
        <p:nvSpPr>
          <p:cNvPr id="6" name="badge Measured"/>
          <p:cNvSpPr/>
          <p:nvPr/>
        </p:nvSpPr>
        <p:spPr>
          <a:xfrm>
            <a:off x="3611880" y="2212848"/>
            <a:ext cx="237744" cy="237744"/>
          </a:xfrm>
          <a:prstGeom prst="roundRect">
            <a:avLst>
              <a:gd name="adj" fmla="val 19231"/>
            </a:avLst>
          </a:prstGeom>
          <a:solidFill>
            <a:srgbClr val="0B0B0B"/>
          </a:solidFill>
          <a:ln w="12700">
            <a:solidFill>
              <a:srgbClr val="0B0B0B"/>
            </a:solidFill>
            <a:prstDash val="solid"/>
          </a:ln>
        </p:spPr>
      </p:sp>
      <p:sp>
        <p:nvSpPr>
          <p:cNvPr id="7" name="Text 5"/>
          <p:cNvSpPr txBox="1"/>
          <p:nvPr/>
        </p:nvSpPr>
        <p:spPr>
          <a:xfrm>
            <a:off x="3611880" y="2212848"/>
            <a:ext cx="237744" cy="237744"/>
          </a:xfrm>
          <a:prstGeom prst="rect">
            <a:avLst/>
          </a:prstGeom>
          <a:noFill/>
          <a:ln/>
        </p:spPr>
        <p:txBody>
          <a:bodyPr wrap="square" lIns="0" tIns="0" rIns="0" bIns="0" rtlCol="0" anchor="ctr"/>
          <a:lstStyle/>
          <a:p>
            <a:pPr algn="ctr" indent="0" marL="0">
              <a:buNone/>
            </a:pPr>
            <a:r>
              <a:rPr lang="en-US" sz="1000" b="1" dirty="0">
                <a:solidFill>
                  <a:srgbClr val="FFFFFF"/>
                </a:solidFill>
              </a:rPr>
              <a:t>M</a:t>
            </a:r>
            <a:endParaRPr lang="en-US" sz="1000" dirty="0"/>
          </a:p>
        </p:txBody>
      </p:sp>
      <p:sp>
        <p:nvSpPr>
          <p:cNvPr id="8" name="Text 6"/>
          <p:cNvSpPr txBox="1"/>
          <p:nvPr/>
        </p:nvSpPr>
        <p:spPr>
          <a:xfrm>
            <a:off x="685800" y="2743200"/>
            <a:ext cx="3154680" cy="868680"/>
          </a:xfrm>
          <a:prstGeom prst="rect">
            <a:avLst/>
          </a:prstGeom>
          <a:noFill/>
          <a:ln/>
        </p:spPr>
        <p:txBody>
          <a:bodyPr wrap="square" lIns="0" tIns="0" rIns="0" bIns="0" rtlCol="0" anchor="t"/>
          <a:lstStyle/>
          <a:p>
            <a:pPr indent="0" marL="0">
              <a:buNone/>
            </a:pPr>
            <a:r>
              <a:rPr lang="en-US" sz="1300" dirty="0">
                <a:solidFill>
                  <a:srgbClr val="DCE3EE"/>
                </a:solidFill>
              </a:rPr>
              <a:t>HSIC's share of MetroMart spend, FY25 → FY26. All of the fall comes from cards that stayed open</a:t>
            </a:r>
            <a:endParaRPr lang="en-US" sz="1300" dirty="0"/>
          </a:p>
        </p:txBody>
      </p:sp>
      <p:sp>
        <p:nvSpPr>
          <p:cNvPr id="9" name="Shape 7"/>
          <p:cNvSpPr/>
          <p:nvPr/>
        </p:nvSpPr>
        <p:spPr>
          <a:xfrm>
            <a:off x="4297680" y="1965960"/>
            <a:ext cx="3566160" cy="1691640"/>
          </a:xfrm>
          <a:prstGeom prst="roundRect">
            <a:avLst>
              <a:gd name="adj" fmla="val 4324"/>
            </a:avLst>
          </a:prstGeom>
          <a:solidFill>
            <a:srgbClr val="1C3A63"/>
          </a:solidFill>
          <a:ln w="12700">
            <a:solidFill>
              <a:srgbClr val="1C3A63"/>
            </a:solidFill>
            <a:prstDash val="solid"/>
          </a:ln>
          <a:effectLst>
            <a:outerShdw sx="100000" sy="100000" kx="0" ky="0" algn="bl" rotWithShape="0" blurRad="76200" dist="25400" dir="5400000">
              <a:srgbClr val="000000">
                <a:alpha val="12000"/>
              </a:srgbClr>
            </a:outerShdw>
          </a:effectLst>
        </p:spPr>
      </p:sp>
      <p:sp>
        <p:nvSpPr>
          <p:cNvPr id="10" name="Text 8"/>
          <p:cNvSpPr txBox="1"/>
          <p:nvPr/>
        </p:nvSpPr>
        <p:spPr>
          <a:xfrm>
            <a:off x="4526280" y="2103120"/>
            <a:ext cx="2834640" cy="594360"/>
          </a:xfrm>
          <a:prstGeom prst="rect">
            <a:avLst/>
          </a:prstGeom>
          <a:noFill/>
          <a:ln/>
        </p:spPr>
        <p:txBody>
          <a:bodyPr wrap="square" lIns="0" tIns="0" rIns="0" bIns="0" rtlCol="0" anchor="t"/>
          <a:lstStyle/>
          <a:p>
            <a:pPr indent="0" marL="0">
              <a:buNone/>
            </a:pPr>
            <a:r>
              <a:rPr lang="en-US" sz="3000" b="1" dirty="0">
                <a:solidFill>
                  <a:srgbClr val="FFFFFF"/>
                </a:solidFill>
              </a:rPr>
              <a:t>47%</a:t>
            </a:r>
            <a:endParaRPr lang="en-US" sz="3000" dirty="0"/>
          </a:p>
        </p:txBody>
      </p:sp>
      <p:sp>
        <p:nvSpPr>
          <p:cNvPr id="11" name="badge Measured"/>
          <p:cNvSpPr/>
          <p:nvPr/>
        </p:nvSpPr>
        <p:spPr>
          <a:xfrm>
            <a:off x="7452360" y="2212848"/>
            <a:ext cx="237744" cy="237744"/>
          </a:xfrm>
          <a:prstGeom prst="roundRect">
            <a:avLst>
              <a:gd name="adj" fmla="val 19231"/>
            </a:avLst>
          </a:prstGeom>
          <a:solidFill>
            <a:srgbClr val="0B0B0B"/>
          </a:solidFill>
          <a:ln w="12700">
            <a:solidFill>
              <a:srgbClr val="0B0B0B"/>
            </a:solidFill>
            <a:prstDash val="solid"/>
          </a:ln>
        </p:spPr>
      </p:sp>
      <p:sp>
        <p:nvSpPr>
          <p:cNvPr id="12" name="Text 10"/>
          <p:cNvSpPr txBox="1"/>
          <p:nvPr/>
        </p:nvSpPr>
        <p:spPr>
          <a:xfrm>
            <a:off x="7452360" y="2212848"/>
            <a:ext cx="237744" cy="237744"/>
          </a:xfrm>
          <a:prstGeom prst="rect">
            <a:avLst/>
          </a:prstGeom>
          <a:noFill/>
          <a:ln/>
        </p:spPr>
        <p:txBody>
          <a:bodyPr wrap="square" lIns="0" tIns="0" rIns="0" bIns="0" rtlCol="0" anchor="ctr"/>
          <a:lstStyle/>
          <a:p>
            <a:pPr algn="ctr" indent="0" marL="0">
              <a:buNone/>
            </a:pPr>
            <a:r>
              <a:rPr lang="en-US" sz="1000" b="1" dirty="0">
                <a:solidFill>
                  <a:srgbClr val="FFFFFF"/>
                </a:solidFill>
              </a:rPr>
              <a:t>M</a:t>
            </a:r>
            <a:endParaRPr lang="en-US" sz="1000" dirty="0"/>
          </a:p>
        </p:txBody>
      </p:sp>
      <p:sp>
        <p:nvSpPr>
          <p:cNvPr id="13" name="Text 11"/>
          <p:cNvSpPr txBox="1"/>
          <p:nvPr/>
        </p:nvSpPr>
        <p:spPr>
          <a:xfrm>
            <a:off x="4526280" y="2743200"/>
            <a:ext cx="3154680" cy="868680"/>
          </a:xfrm>
          <a:prstGeom prst="rect">
            <a:avLst/>
          </a:prstGeom>
          <a:noFill/>
          <a:ln/>
        </p:spPr>
        <p:txBody>
          <a:bodyPr wrap="square" lIns="0" tIns="0" rIns="0" bIns="0" rtlCol="0" anchor="t"/>
          <a:lstStyle/>
          <a:p>
            <a:pPr indent="0" marL="0">
              <a:buNone/>
            </a:pPr>
            <a:r>
              <a:rPr lang="en-US" sz="1300" dirty="0">
                <a:solidFill>
                  <a:srgbClr val="DCE3EE"/>
                </a:solidFill>
              </a:rPr>
              <a:t>of HSIC's lost share went to Cash/UPI, which gained in every ticket size, while spend per card stayed flat</a:t>
            </a:r>
            <a:endParaRPr lang="en-US" sz="1300" dirty="0"/>
          </a:p>
        </p:txBody>
      </p:sp>
      <p:sp>
        <p:nvSpPr>
          <p:cNvPr id="14" name="Shape 12"/>
          <p:cNvSpPr/>
          <p:nvPr/>
        </p:nvSpPr>
        <p:spPr>
          <a:xfrm>
            <a:off x="8138160" y="1965960"/>
            <a:ext cx="3566160" cy="1691640"/>
          </a:xfrm>
          <a:prstGeom prst="roundRect">
            <a:avLst>
              <a:gd name="adj" fmla="val 4324"/>
            </a:avLst>
          </a:prstGeom>
          <a:solidFill>
            <a:srgbClr val="1C3A63"/>
          </a:solidFill>
          <a:ln w="12700">
            <a:solidFill>
              <a:srgbClr val="1C3A63"/>
            </a:solidFill>
            <a:prstDash val="solid"/>
          </a:ln>
          <a:effectLst>
            <a:outerShdw sx="100000" sy="100000" kx="0" ky="0" algn="bl" rotWithShape="0" blurRad="76200" dist="25400" dir="5400000">
              <a:srgbClr val="000000">
                <a:alpha val="12000"/>
              </a:srgbClr>
            </a:outerShdw>
          </a:effectLst>
        </p:spPr>
      </p:sp>
      <p:sp>
        <p:nvSpPr>
          <p:cNvPr id="15" name="Text 13"/>
          <p:cNvSpPr txBox="1"/>
          <p:nvPr/>
        </p:nvSpPr>
        <p:spPr>
          <a:xfrm>
            <a:off x="8366760" y="2103120"/>
            <a:ext cx="2834640" cy="594360"/>
          </a:xfrm>
          <a:prstGeom prst="rect">
            <a:avLst/>
          </a:prstGeom>
          <a:noFill/>
          <a:ln/>
        </p:spPr>
        <p:txBody>
          <a:bodyPr wrap="square" lIns="0" tIns="0" rIns="0" bIns="0" rtlCol="0" anchor="t"/>
          <a:lstStyle/>
          <a:p>
            <a:pPr indent="0" marL="0">
              <a:buNone/>
            </a:pPr>
            <a:r>
              <a:rPr lang="en-US" sz="3000" b="1" dirty="0">
                <a:solidFill>
                  <a:srgbClr val="FFFFFF"/>
                </a:solidFill>
              </a:rPr>
              <a:t>4.8×</a:t>
            </a:r>
            <a:endParaRPr lang="en-US" sz="3000" dirty="0"/>
          </a:p>
        </p:txBody>
      </p:sp>
      <p:sp>
        <p:nvSpPr>
          <p:cNvPr id="16" name="badge Measured"/>
          <p:cNvSpPr/>
          <p:nvPr/>
        </p:nvSpPr>
        <p:spPr>
          <a:xfrm>
            <a:off x="11292840" y="2212848"/>
            <a:ext cx="237744" cy="237744"/>
          </a:xfrm>
          <a:prstGeom prst="roundRect">
            <a:avLst>
              <a:gd name="adj" fmla="val 19231"/>
            </a:avLst>
          </a:prstGeom>
          <a:solidFill>
            <a:srgbClr val="0B0B0B"/>
          </a:solidFill>
          <a:ln w="12700">
            <a:solidFill>
              <a:srgbClr val="0B0B0B"/>
            </a:solidFill>
            <a:prstDash val="solid"/>
          </a:ln>
        </p:spPr>
      </p:sp>
      <p:sp>
        <p:nvSpPr>
          <p:cNvPr id="17" name="Text 15"/>
          <p:cNvSpPr txBox="1"/>
          <p:nvPr/>
        </p:nvSpPr>
        <p:spPr>
          <a:xfrm>
            <a:off x="11292840" y="2212848"/>
            <a:ext cx="237744" cy="237744"/>
          </a:xfrm>
          <a:prstGeom prst="rect">
            <a:avLst/>
          </a:prstGeom>
          <a:noFill/>
          <a:ln/>
        </p:spPr>
        <p:txBody>
          <a:bodyPr wrap="square" lIns="0" tIns="0" rIns="0" bIns="0" rtlCol="0" anchor="ctr"/>
          <a:lstStyle/>
          <a:p>
            <a:pPr algn="ctr" indent="0" marL="0">
              <a:buNone/>
            </a:pPr>
            <a:r>
              <a:rPr lang="en-US" sz="1000" b="1" dirty="0">
                <a:solidFill>
                  <a:srgbClr val="FFFFFF"/>
                </a:solidFill>
              </a:rPr>
              <a:t>M</a:t>
            </a:r>
            <a:endParaRPr lang="en-US" sz="1000" dirty="0"/>
          </a:p>
        </p:txBody>
      </p:sp>
      <p:sp>
        <p:nvSpPr>
          <p:cNvPr id="18" name="Text 16"/>
          <p:cNvSpPr txBox="1"/>
          <p:nvPr/>
        </p:nvSpPr>
        <p:spPr>
          <a:xfrm>
            <a:off x="8366760" y="2743200"/>
            <a:ext cx="3154680" cy="868680"/>
          </a:xfrm>
          <a:prstGeom prst="rect">
            <a:avLst/>
          </a:prstGeom>
          <a:noFill/>
          <a:ln/>
        </p:spPr>
        <p:txBody>
          <a:bodyPr wrap="square" lIns="0" tIns="0" rIns="0" bIns="0" rtlCol="0" anchor="t"/>
          <a:lstStyle/>
          <a:p>
            <a:pPr indent="0" marL="0">
              <a:buNone/>
            </a:pPr>
            <a:r>
              <a:rPr lang="en-US" sz="1300" dirty="0">
                <a:solidFill>
                  <a:srgbClr val="DCE3EE"/>
                </a:solidFill>
              </a:rPr>
              <a:t>closure rate of cards under 6 months vs over 3 years (14.7% vs 3.0% in 6 months)</a:t>
            </a:r>
            <a:endParaRPr lang="en-US" sz="1300" dirty="0"/>
          </a:p>
        </p:txBody>
      </p:sp>
      <p:sp>
        <p:nvSpPr>
          <p:cNvPr id="19" name="Text 17"/>
          <p:cNvSpPr txBox="1"/>
          <p:nvPr/>
        </p:nvSpPr>
        <p:spPr>
          <a:xfrm>
            <a:off x="457200" y="3931920"/>
            <a:ext cx="10789920" cy="640080"/>
          </a:xfrm>
          <a:prstGeom prst="rect">
            <a:avLst/>
          </a:prstGeom>
          <a:noFill/>
          <a:ln/>
        </p:spPr>
        <p:txBody>
          <a:bodyPr wrap="square" lIns="0" tIns="0" rIns="0" bIns="0" rtlCol="0" anchor="t"/>
          <a:lstStyle/>
          <a:p>
            <a:pPr indent="0" marL="0">
              <a:buNone/>
            </a:pPr>
            <a:r>
              <a:rPr lang="en-US" sz="1400" b="1" dirty="0">
                <a:solidFill>
                  <a:srgbClr val="FFFFFF"/>
                </a:solidFill>
              </a:rPr>
              <a:t>₹33.4M of HSIC spend lost in FY26. </a:t>
            </a:r>
            <a:pPr indent="0" marL="0">
              <a:buNone/>
            </a:pPr>
            <a:r>
              <a:rPr lang="en-US" sz="1400" dirty="0">
                <a:solidFill>
                  <a:srgbClr val="DCE3EE"/>
                </a:solidFill>
              </a:rPr>
              <a:t>Net of the 1.40% HSIC pays in rewards, it carried only ₹0.03M–₹0.20M of margin (₹0.27M–₹0.43M if MetroMart co-funds half): the stake is retention and revolving balances.</a:t>
            </a:r>
            <a:endParaRPr lang="en-US" sz="1400" dirty="0"/>
          </a:p>
        </p:txBody>
      </p:sp>
      <p:sp>
        <p:nvSpPr>
          <p:cNvPr id="20" name="badge Assumed"/>
          <p:cNvSpPr/>
          <p:nvPr/>
        </p:nvSpPr>
        <p:spPr>
          <a:xfrm>
            <a:off x="11494008" y="3959352"/>
            <a:ext cx="237744" cy="237744"/>
          </a:xfrm>
          <a:prstGeom prst="roundRect">
            <a:avLst>
              <a:gd name="adj" fmla="val 19231"/>
            </a:avLst>
          </a:prstGeom>
          <a:solidFill>
            <a:srgbClr val="898781"/>
          </a:solidFill>
          <a:ln w="12700">
            <a:solidFill>
              <a:srgbClr val="898781"/>
            </a:solidFill>
            <a:prstDash val="solid"/>
          </a:ln>
        </p:spPr>
      </p:sp>
      <p:sp>
        <p:nvSpPr>
          <p:cNvPr id="21" name="Text 19"/>
          <p:cNvSpPr txBox="1"/>
          <p:nvPr/>
        </p:nvSpPr>
        <p:spPr>
          <a:xfrm>
            <a:off x="11494008" y="3959352"/>
            <a:ext cx="237744" cy="237744"/>
          </a:xfrm>
          <a:prstGeom prst="rect">
            <a:avLst/>
          </a:prstGeom>
          <a:noFill/>
          <a:ln/>
        </p:spPr>
        <p:txBody>
          <a:bodyPr wrap="square" lIns="0" tIns="0" rIns="0" bIns="0" rtlCol="0" anchor="ctr"/>
          <a:lstStyle/>
          <a:p>
            <a:pPr algn="ctr" indent="0" marL="0">
              <a:buNone/>
            </a:pPr>
            <a:r>
              <a:rPr lang="en-US" sz="1000" b="1" dirty="0">
                <a:solidFill>
                  <a:srgbClr val="FFFFFF"/>
                </a:solidFill>
              </a:rPr>
              <a:t>A</a:t>
            </a:r>
            <a:endParaRPr lang="en-US" sz="1000" dirty="0"/>
          </a:p>
        </p:txBody>
      </p:sp>
      <p:sp>
        <p:nvSpPr>
          <p:cNvPr id="22" name="Shape 20"/>
          <p:cNvSpPr/>
          <p:nvPr/>
        </p:nvSpPr>
        <p:spPr>
          <a:xfrm>
            <a:off x="457200" y="4892040"/>
            <a:ext cx="411480" cy="411480"/>
          </a:xfrm>
          <a:prstGeom prst="ellipse">
            <a:avLst/>
          </a:prstGeom>
          <a:solidFill>
            <a:srgbClr val="2A78D6"/>
          </a:solidFill>
          <a:ln w="12700">
            <a:solidFill>
              <a:srgbClr val="2A78D6"/>
            </a:solidFill>
            <a:prstDash val="solid"/>
          </a:ln>
        </p:spPr>
      </p:sp>
      <p:sp>
        <p:nvSpPr>
          <p:cNvPr id="23" name="Text 21"/>
          <p:cNvSpPr txBox="1"/>
          <p:nvPr/>
        </p:nvSpPr>
        <p:spPr>
          <a:xfrm>
            <a:off x="457200" y="4892040"/>
            <a:ext cx="411480" cy="411480"/>
          </a:xfrm>
          <a:prstGeom prst="rect">
            <a:avLst/>
          </a:prstGeom>
          <a:noFill/>
          <a:ln/>
        </p:spPr>
        <p:txBody>
          <a:bodyPr wrap="square" lIns="0" tIns="0" rIns="0" bIns="0" rtlCol="0" anchor="ctr"/>
          <a:lstStyle/>
          <a:p>
            <a:pPr algn="ctr" indent="0" marL="0">
              <a:buNone/>
            </a:pPr>
            <a:r>
              <a:rPr lang="en-US" sz="1600" b="1" dirty="0">
                <a:solidFill>
                  <a:srgbClr val="FFFFFF"/>
                </a:solidFill>
              </a:rPr>
              <a:t>1</a:t>
            </a:r>
            <a:endParaRPr lang="en-US" sz="1600" dirty="0"/>
          </a:p>
        </p:txBody>
      </p:sp>
      <p:sp>
        <p:nvSpPr>
          <p:cNvPr id="24" name="Text 22"/>
          <p:cNvSpPr txBox="1"/>
          <p:nvPr/>
        </p:nvSpPr>
        <p:spPr>
          <a:xfrm>
            <a:off x="1005840" y="4873752"/>
            <a:ext cx="3017520" cy="685800"/>
          </a:xfrm>
          <a:prstGeom prst="rect">
            <a:avLst/>
          </a:prstGeom>
          <a:noFill/>
          <a:ln/>
        </p:spPr>
        <p:txBody>
          <a:bodyPr wrap="square" lIns="0" tIns="0" rIns="0" bIns="0" rtlCol="0" anchor="t"/>
          <a:lstStyle/>
          <a:p>
            <a:pPr indent="0" marL="0">
              <a:buNone/>
            </a:pPr>
            <a:r>
              <a:rPr lang="en-US" sz="1400" b="1" dirty="0">
                <a:solidFill>
                  <a:srgbClr val="FFFFFF"/>
                </a:solidFill>
              </a:rPr>
              <a:t>Show the reward at the till: no incentive cost</a:t>
            </a:r>
            <a:endParaRPr lang="en-US" sz="1400" dirty="0"/>
          </a:p>
        </p:txBody>
      </p:sp>
      <p:sp>
        <p:nvSpPr>
          <p:cNvPr id="25" name="Shape 23"/>
          <p:cNvSpPr/>
          <p:nvPr/>
        </p:nvSpPr>
        <p:spPr>
          <a:xfrm>
            <a:off x="4297680" y="4892040"/>
            <a:ext cx="411480" cy="411480"/>
          </a:xfrm>
          <a:prstGeom prst="ellipse">
            <a:avLst/>
          </a:prstGeom>
          <a:solidFill>
            <a:srgbClr val="2A78D6"/>
          </a:solidFill>
          <a:ln w="12700">
            <a:solidFill>
              <a:srgbClr val="2A78D6"/>
            </a:solidFill>
            <a:prstDash val="solid"/>
          </a:ln>
        </p:spPr>
      </p:sp>
      <p:sp>
        <p:nvSpPr>
          <p:cNvPr id="26" name="Text 24"/>
          <p:cNvSpPr txBox="1"/>
          <p:nvPr/>
        </p:nvSpPr>
        <p:spPr>
          <a:xfrm>
            <a:off x="4297680" y="4892040"/>
            <a:ext cx="411480" cy="411480"/>
          </a:xfrm>
          <a:prstGeom prst="rect">
            <a:avLst/>
          </a:prstGeom>
          <a:noFill/>
          <a:ln/>
        </p:spPr>
        <p:txBody>
          <a:bodyPr wrap="square" lIns="0" tIns="0" rIns="0" bIns="0" rtlCol="0" anchor="ctr"/>
          <a:lstStyle/>
          <a:p>
            <a:pPr algn="ctr" indent="0" marL="0">
              <a:buNone/>
            </a:pPr>
            <a:r>
              <a:rPr lang="en-US" sz="1600" b="1" dirty="0">
                <a:solidFill>
                  <a:srgbClr val="FFFFFF"/>
                </a:solidFill>
              </a:rPr>
              <a:t>2</a:t>
            </a:r>
            <a:endParaRPr lang="en-US" sz="1600" dirty="0"/>
          </a:p>
        </p:txBody>
      </p:sp>
      <p:sp>
        <p:nvSpPr>
          <p:cNvPr id="27" name="Text 25"/>
          <p:cNvSpPr txBox="1"/>
          <p:nvPr/>
        </p:nvSpPr>
        <p:spPr>
          <a:xfrm>
            <a:off x="4846320" y="4873752"/>
            <a:ext cx="3017520" cy="685800"/>
          </a:xfrm>
          <a:prstGeom prst="rect">
            <a:avLst/>
          </a:prstGeom>
          <a:noFill/>
          <a:ln/>
        </p:spPr>
        <p:txBody>
          <a:bodyPr wrap="square" lIns="0" tIns="0" rIns="0" bIns="0" rtlCol="0" anchor="t"/>
          <a:lstStyle/>
          <a:p>
            <a:pPr indent="0" marL="0">
              <a:buNone/>
            </a:pPr>
            <a:r>
              <a:rPr lang="en-US" sz="1400" b="1" dirty="0">
                <a:solidFill>
                  <a:srgbClr val="FFFFFF"/>
                </a:solidFill>
              </a:rPr>
              <a:t>Instant cashback and the card on UPI, to match Cash/UPI</a:t>
            </a:r>
            <a:endParaRPr lang="en-US" sz="1400" dirty="0"/>
          </a:p>
        </p:txBody>
      </p:sp>
      <p:sp>
        <p:nvSpPr>
          <p:cNvPr id="28" name="Shape 26"/>
          <p:cNvSpPr/>
          <p:nvPr/>
        </p:nvSpPr>
        <p:spPr>
          <a:xfrm>
            <a:off x="8138160" y="4892040"/>
            <a:ext cx="411480" cy="411480"/>
          </a:xfrm>
          <a:prstGeom prst="ellipse">
            <a:avLst/>
          </a:prstGeom>
          <a:solidFill>
            <a:srgbClr val="2A78D6"/>
          </a:solidFill>
          <a:ln w="12700">
            <a:solidFill>
              <a:srgbClr val="2A78D6"/>
            </a:solidFill>
            <a:prstDash val="solid"/>
          </a:ln>
        </p:spPr>
      </p:sp>
      <p:sp>
        <p:nvSpPr>
          <p:cNvPr id="29" name="Text 27"/>
          <p:cNvSpPr txBox="1"/>
          <p:nvPr/>
        </p:nvSpPr>
        <p:spPr>
          <a:xfrm>
            <a:off x="8138160" y="4892040"/>
            <a:ext cx="411480" cy="411480"/>
          </a:xfrm>
          <a:prstGeom prst="rect">
            <a:avLst/>
          </a:prstGeom>
          <a:noFill/>
          <a:ln/>
        </p:spPr>
        <p:txBody>
          <a:bodyPr wrap="square" lIns="0" tIns="0" rIns="0" bIns="0" rtlCol="0" anchor="ctr"/>
          <a:lstStyle/>
          <a:p>
            <a:pPr algn="ctr" indent="0" marL="0">
              <a:buNone/>
            </a:pPr>
            <a:r>
              <a:rPr lang="en-US" sz="1600" b="1" dirty="0">
                <a:solidFill>
                  <a:srgbClr val="FFFFFF"/>
                </a:solidFill>
              </a:rPr>
              <a:t>3</a:t>
            </a:r>
            <a:endParaRPr lang="en-US" sz="1600" dirty="0"/>
          </a:p>
        </p:txBody>
      </p:sp>
      <p:sp>
        <p:nvSpPr>
          <p:cNvPr id="30" name="Text 28"/>
          <p:cNvSpPr txBox="1"/>
          <p:nvPr/>
        </p:nvSpPr>
        <p:spPr>
          <a:xfrm>
            <a:off x="8686800" y="4873752"/>
            <a:ext cx="3017520" cy="685800"/>
          </a:xfrm>
          <a:prstGeom prst="rect">
            <a:avLst/>
          </a:prstGeom>
          <a:noFill/>
          <a:ln/>
        </p:spPr>
        <p:txBody>
          <a:bodyPr wrap="square" lIns="0" tIns="0" rIns="0" bIns="0" rtlCol="0" anchor="t"/>
          <a:lstStyle/>
          <a:p>
            <a:pPr indent="0" marL="0">
              <a:buNone/>
            </a:pPr>
            <a:r>
              <a:rPr lang="en-US" sz="1400" b="1" dirty="0">
                <a:solidFill>
                  <a:srgbClr val="FFFFFF"/>
                </a:solidFill>
              </a:rPr>
              <a:t>Protect first-year cards, win back closed cards, pilot with 10% holdouts</a:t>
            </a:r>
            <a:endParaRPr lang="en-US" sz="1400" dirty="0"/>
          </a:p>
        </p:txBody>
      </p:sp>
      <p:sp>
        <p:nvSpPr>
          <p:cNvPr id="31" name="Text 29"/>
          <p:cNvSpPr txBox="1"/>
          <p:nvPr/>
        </p:nvSpPr>
        <p:spPr>
          <a:xfrm>
            <a:off x="457200" y="6172200"/>
            <a:ext cx="10058400" cy="274320"/>
          </a:xfrm>
          <a:prstGeom prst="rect">
            <a:avLst/>
          </a:prstGeom>
          <a:noFill/>
          <a:ln/>
        </p:spPr>
        <p:txBody>
          <a:bodyPr wrap="square" lIns="0" tIns="0" rIns="0" bIns="0" rtlCol="0" anchor="t"/>
          <a:lstStyle/>
          <a:p>
            <a:pPr indent="0" marL="0">
              <a:buNone/>
            </a:pPr>
            <a:r>
              <a:rPr lang="en-US" sz="1100" dirty="0">
                <a:solidFill>
                  <a:srgbClr val="AEB8C8"/>
                </a:solidFill>
              </a:rPr>
              <a:t>Devansh Agarwal  ·  Mayank Srivastava  ·  Shreyash Tiwari  ·  BITS Pilani  ·  24 October 2026</a:t>
            </a:r>
            <a:endParaRPr lang="en-US" sz="1100" dirty="0"/>
          </a:p>
        </p:txBody>
      </p:sp>
      <p:sp>
        <p:nvSpPr>
          <p:cNvPr id="25" name="Slide Number Placeholder 0"/>
          <p:cNvSpPr>
            <a:spLocks noGrp="1"/>
          </p:cNvSpPr>
          <p:nvPr>
            <p:ph type="sldNum" sz="quarter" idx="4294967295"/>
          </p:nvPr>
        </p:nvSpPr>
        <p:spPr>
          <a:xfrm>
            <a:off x="11338560" y="6446520"/>
            <a:ext cx="39319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EB8C8"/>
                </a:solidFill>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457200" y="320040"/>
            <a:ext cx="11247120" cy="868680"/>
          </a:xfrm>
          <a:prstGeom prst="rect">
            <a:avLst/>
          </a:prstGeom>
          <a:noFill/>
          <a:ln/>
        </p:spPr>
        <p:txBody>
          <a:bodyPr wrap="square" lIns="0" tIns="0" rIns="0" bIns="0" rtlCol="0" anchor="t"/>
          <a:lstStyle/>
          <a:p>
            <a:pPr indent="0" marL="0">
              <a:buNone/>
            </a:pPr>
            <a:r>
              <a:rPr lang="en-US" sz="2400" b="1" dirty="0">
                <a:solidFill>
                  <a:srgbClr val="0F2747"/>
                </a:solidFill>
              </a:rPr>
              <a:t>Customers kept shopping at MetroMart; they stopped paying with HSIC</a:t>
            </a:r>
            <a:endParaRPr lang="en-US" sz="2400" dirty="0"/>
          </a:p>
        </p:txBody>
      </p:sp>
      <p:sp>
        <p:nvSpPr>
          <p:cNvPr id="3" name="Shape 1"/>
          <p:cNvSpPr/>
          <p:nvPr/>
        </p:nvSpPr>
        <p:spPr>
          <a:xfrm>
            <a:off x="457200" y="1325880"/>
            <a:ext cx="7223760" cy="4143375"/>
          </a:xfrm>
          <a:prstGeom prst="roundRect">
            <a:avLst>
              <a:gd name="adj" fmla="val 1766"/>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pic>
        <p:nvPicPr>
          <p:cNvPr id="4" name="Image 0" descr="04_per_card.png">    </p:cNvPr>
          <p:cNvPicPr>
            <a:picLocks noChangeAspect="1"/>
          </p:cNvPicPr>
          <p:nvPr/>
        </p:nvPicPr>
        <p:blipFill>
          <a:blip r:embed="rId1"/>
          <a:stretch>
            <a:fillRect/>
          </a:stretch>
        </p:blipFill>
        <p:spPr>
          <a:xfrm>
            <a:off x="548640" y="1417320"/>
            <a:ext cx="7040880" cy="3960495"/>
          </a:xfrm>
          <a:prstGeom prst="rect">
            <a:avLst/>
          </a:prstGeom>
        </p:spPr>
      </p:pic>
      <p:sp>
        <p:nvSpPr>
          <p:cNvPr id="5" name="Text 2"/>
          <p:cNvSpPr txBox="1"/>
          <p:nvPr/>
        </p:nvSpPr>
        <p:spPr>
          <a:xfrm>
            <a:off x="8001000" y="1371600"/>
            <a:ext cx="3364992" cy="502920"/>
          </a:xfrm>
          <a:prstGeom prst="rect">
            <a:avLst/>
          </a:prstGeom>
          <a:noFill/>
          <a:ln/>
        </p:spPr>
        <p:txBody>
          <a:bodyPr wrap="square" lIns="0" tIns="0" rIns="0" bIns="0" rtlCol="0" anchor="t"/>
          <a:lstStyle/>
          <a:p>
            <a:pPr indent="0" marL="0">
              <a:buNone/>
            </a:pPr>
            <a:r>
              <a:rPr lang="en-US" sz="2800" b="1" dirty="0">
                <a:solidFill>
                  <a:srgbClr val="0F2747"/>
                </a:solidFill>
              </a:rPr>
              <a:t>−9.4 pts</a:t>
            </a:r>
            <a:endParaRPr lang="en-US" sz="2800" dirty="0"/>
          </a:p>
        </p:txBody>
      </p:sp>
      <p:sp>
        <p:nvSpPr>
          <p:cNvPr id="6" name="badge Measured"/>
          <p:cNvSpPr/>
          <p:nvPr/>
        </p:nvSpPr>
        <p:spPr>
          <a:xfrm>
            <a:off x="11494008" y="1481328"/>
            <a:ext cx="237744" cy="237744"/>
          </a:xfrm>
          <a:prstGeom prst="roundRect">
            <a:avLst>
              <a:gd name="adj" fmla="val 19231"/>
            </a:avLst>
          </a:prstGeom>
          <a:solidFill>
            <a:srgbClr val="0B0B0B"/>
          </a:solidFill>
          <a:ln w="12700">
            <a:solidFill>
              <a:srgbClr val="0B0B0B"/>
            </a:solidFill>
            <a:prstDash val="solid"/>
          </a:ln>
        </p:spPr>
      </p:sp>
      <p:sp>
        <p:nvSpPr>
          <p:cNvPr id="7" name="Text 4"/>
          <p:cNvSpPr txBox="1"/>
          <p:nvPr/>
        </p:nvSpPr>
        <p:spPr>
          <a:xfrm>
            <a:off x="11494008" y="1481328"/>
            <a:ext cx="237744" cy="237744"/>
          </a:xfrm>
          <a:prstGeom prst="rect">
            <a:avLst/>
          </a:prstGeom>
          <a:noFill/>
          <a:ln/>
        </p:spPr>
        <p:txBody>
          <a:bodyPr wrap="square" lIns="0" tIns="0" rIns="0" bIns="0" rtlCol="0" anchor="ctr"/>
          <a:lstStyle/>
          <a:p>
            <a:pPr algn="ctr" indent="0" marL="0">
              <a:buNone/>
            </a:pPr>
            <a:r>
              <a:rPr lang="en-US" sz="1000" b="1" dirty="0">
                <a:solidFill>
                  <a:srgbClr val="FFFFFF"/>
                </a:solidFill>
              </a:rPr>
              <a:t>M</a:t>
            </a:r>
            <a:endParaRPr lang="en-US" sz="1000" dirty="0"/>
          </a:p>
        </p:txBody>
      </p:sp>
      <p:sp>
        <p:nvSpPr>
          <p:cNvPr id="8" name="Text 5"/>
          <p:cNvSpPr txBox="1"/>
          <p:nvPr/>
        </p:nvSpPr>
        <p:spPr>
          <a:xfrm>
            <a:off x="8001000" y="1901952"/>
            <a:ext cx="3730752" cy="685800"/>
          </a:xfrm>
          <a:prstGeom prst="rect">
            <a:avLst/>
          </a:prstGeom>
          <a:noFill/>
          <a:ln/>
        </p:spPr>
        <p:txBody>
          <a:bodyPr wrap="square" lIns="0" tIns="0" rIns="0" bIns="0" rtlCol="0" anchor="t"/>
          <a:lstStyle/>
          <a:p>
            <a:pPr indent="0" marL="0">
              <a:buNone/>
            </a:pPr>
            <a:r>
              <a:rPr lang="en-US" sz="1250" dirty="0">
                <a:solidFill>
                  <a:srgbClr val="52514E"/>
                </a:solidFill>
              </a:rPr>
              <a:t>SoW 28.9% → 19.5%. Cards open throughout explain −9.5 pts; closures and new cards net out (+0.3 pts, −0.1 pts)</a:t>
            </a:r>
            <a:endParaRPr lang="en-US" sz="1250" dirty="0"/>
          </a:p>
        </p:txBody>
      </p:sp>
      <p:sp>
        <p:nvSpPr>
          <p:cNvPr id="9" name="Text 6"/>
          <p:cNvSpPr txBox="1"/>
          <p:nvPr/>
        </p:nvSpPr>
        <p:spPr>
          <a:xfrm>
            <a:off x="8001000" y="2697480"/>
            <a:ext cx="3364992" cy="502920"/>
          </a:xfrm>
          <a:prstGeom prst="rect">
            <a:avLst/>
          </a:prstGeom>
          <a:noFill/>
          <a:ln/>
        </p:spPr>
        <p:txBody>
          <a:bodyPr wrap="square" lIns="0" tIns="0" rIns="0" bIns="0" rtlCol="0" anchor="t"/>
          <a:lstStyle/>
          <a:p>
            <a:pPr indent="0" marL="0">
              <a:buNone/>
            </a:pPr>
            <a:r>
              <a:rPr lang="en-US" sz="2800" b="1" dirty="0">
                <a:solidFill>
                  <a:srgbClr val="0F2747"/>
                </a:solidFill>
              </a:rPr>
              <a:t>47%</a:t>
            </a:r>
            <a:endParaRPr lang="en-US" sz="2800" dirty="0"/>
          </a:p>
        </p:txBody>
      </p:sp>
      <p:sp>
        <p:nvSpPr>
          <p:cNvPr id="10" name="badge Measured"/>
          <p:cNvSpPr/>
          <p:nvPr/>
        </p:nvSpPr>
        <p:spPr>
          <a:xfrm>
            <a:off x="11494008" y="2807208"/>
            <a:ext cx="237744" cy="237744"/>
          </a:xfrm>
          <a:prstGeom prst="roundRect">
            <a:avLst>
              <a:gd name="adj" fmla="val 19231"/>
            </a:avLst>
          </a:prstGeom>
          <a:solidFill>
            <a:srgbClr val="0B0B0B"/>
          </a:solidFill>
          <a:ln w="12700">
            <a:solidFill>
              <a:srgbClr val="0B0B0B"/>
            </a:solidFill>
            <a:prstDash val="solid"/>
          </a:ln>
        </p:spPr>
      </p:sp>
      <p:sp>
        <p:nvSpPr>
          <p:cNvPr id="11" name="Text 8"/>
          <p:cNvSpPr txBox="1"/>
          <p:nvPr/>
        </p:nvSpPr>
        <p:spPr>
          <a:xfrm>
            <a:off x="11494008" y="2807208"/>
            <a:ext cx="237744" cy="237744"/>
          </a:xfrm>
          <a:prstGeom prst="rect">
            <a:avLst/>
          </a:prstGeom>
          <a:noFill/>
          <a:ln/>
        </p:spPr>
        <p:txBody>
          <a:bodyPr wrap="square" lIns="0" tIns="0" rIns="0" bIns="0" rtlCol="0" anchor="ctr"/>
          <a:lstStyle/>
          <a:p>
            <a:pPr algn="ctr" indent="0" marL="0">
              <a:buNone/>
            </a:pPr>
            <a:r>
              <a:rPr lang="en-US" sz="1000" b="1" dirty="0">
                <a:solidFill>
                  <a:srgbClr val="FFFFFF"/>
                </a:solidFill>
              </a:rPr>
              <a:t>M</a:t>
            </a:r>
            <a:endParaRPr lang="en-US" sz="1000" dirty="0"/>
          </a:p>
        </p:txBody>
      </p:sp>
      <p:sp>
        <p:nvSpPr>
          <p:cNvPr id="12" name="Text 9"/>
          <p:cNvSpPr txBox="1"/>
          <p:nvPr/>
        </p:nvSpPr>
        <p:spPr>
          <a:xfrm>
            <a:off x="8001000" y="3227832"/>
            <a:ext cx="3730752" cy="685800"/>
          </a:xfrm>
          <a:prstGeom prst="rect">
            <a:avLst/>
          </a:prstGeom>
          <a:noFill/>
          <a:ln/>
        </p:spPr>
        <p:txBody>
          <a:bodyPr wrap="square" lIns="0" tIns="0" rIns="0" bIns="0" rtlCol="0" anchor="t"/>
          <a:lstStyle/>
          <a:p>
            <a:pPr indent="0" marL="0">
              <a:buNone/>
            </a:pPr>
            <a:r>
              <a:rPr lang="en-US" sz="1250" dirty="0">
                <a:solidFill>
                  <a:srgbClr val="52514E"/>
                </a:solidFill>
              </a:rPr>
              <a:t>of the lost share went to Cash/UPI; Debit 21%, other cards 19%, MetroMart Wallet 14%</a:t>
            </a:r>
            <a:endParaRPr lang="en-US" sz="1250" dirty="0"/>
          </a:p>
        </p:txBody>
      </p:sp>
      <p:sp>
        <p:nvSpPr>
          <p:cNvPr id="13" name="Text 10"/>
          <p:cNvSpPr txBox="1"/>
          <p:nvPr/>
        </p:nvSpPr>
        <p:spPr>
          <a:xfrm>
            <a:off x="8001000" y="4023360"/>
            <a:ext cx="3364992" cy="502920"/>
          </a:xfrm>
          <a:prstGeom prst="rect">
            <a:avLst/>
          </a:prstGeom>
          <a:noFill/>
          <a:ln/>
        </p:spPr>
        <p:txBody>
          <a:bodyPr wrap="square" lIns="0" tIns="0" rIns="0" bIns="0" rtlCol="0" anchor="t"/>
          <a:lstStyle/>
          <a:p>
            <a:pPr indent="0" marL="0">
              <a:buNone/>
            </a:pPr>
            <a:r>
              <a:rPr lang="en-US" sz="2800" b="1" dirty="0">
                <a:solidFill>
                  <a:srgbClr val="0F2747"/>
                </a:solidFill>
              </a:rPr>
              <a:t>+4.5 pts vs +1.8 pts</a:t>
            </a:r>
            <a:endParaRPr lang="en-US" sz="2800" dirty="0"/>
          </a:p>
        </p:txBody>
      </p:sp>
      <p:sp>
        <p:nvSpPr>
          <p:cNvPr id="14" name="badge Measured"/>
          <p:cNvSpPr/>
          <p:nvPr/>
        </p:nvSpPr>
        <p:spPr>
          <a:xfrm>
            <a:off x="11494008" y="4133088"/>
            <a:ext cx="237744" cy="237744"/>
          </a:xfrm>
          <a:prstGeom prst="roundRect">
            <a:avLst>
              <a:gd name="adj" fmla="val 19231"/>
            </a:avLst>
          </a:prstGeom>
          <a:solidFill>
            <a:srgbClr val="0B0B0B"/>
          </a:solidFill>
          <a:ln w="12700">
            <a:solidFill>
              <a:srgbClr val="0B0B0B"/>
            </a:solidFill>
            <a:prstDash val="solid"/>
          </a:ln>
        </p:spPr>
      </p:sp>
      <p:sp>
        <p:nvSpPr>
          <p:cNvPr id="15" name="Text 12"/>
          <p:cNvSpPr txBox="1"/>
          <p:nvPr/>
        </p:nvSpPr>
        <p:spPr>
          <a:xfrm>
            <a:off x="11494008" y="4133088"/>
            <a:ext cx="237744" cy="237744"/>
          </a:xfrm>
          <a:prstGeom prst="rect">
            <a:avLst/>
          </a:prstGeom>
          <a:noFill/>
          <a:ln/>
        </p:spPr>
        <p:txBody>
          <a:bodyPr wrap="square" lIns="0" tIns="0" rIns="0" bIns="0" rtlCol="0" anchor="ctr"/>
          <a:lstStyle/>
          <a:p>
            <a:pPr algn="ctr" indent="0" marL="0">
              <a:buNone/>
            </a:pPr>
            <a:r>
              <a:rPr lang="en-US" sz="1000" b="1" dirty="0">
                <a:solidFill>
                  <a:srgbClr val="FFFFFF"/>
                </a:solidFill>
              </a:rPr>
              <a:t>M</a:t>
            </a:r>
            <a:endParaRPr lang="en-US" sz="1000" dirty="0"/>
          </a:p>
        </p:txBody>
      </p:sp>
      <p:sp>
        <p:nvSpPr>
          <p:cNvPr id="16" name="Text 13"/>
          <p:cNvSpPr txBox="1"/>
          <p:nvPr/>
        </p:nvSpPr>
        <p:spPr>
          <a:xfrm>
            <a:off x="8001000" y="4553712"/>
            <a:ext cx="3730752" cy="685800"/>
          </a:xfrm>
          <a:prstGeom prst="rect">
            <a:avLst/>
          </a:prstGeom>
          <a:noFill/>
          <a:ln/>
        </p:spPr>
        <p:txBody>
          <a:bodyPr wrap="square" lIns="0" tIns="0" rIns="0" bIns="0" rtlCol="0" anchor="t"/>
          <a:lstStyle/>
          <a:p>
            <a:pPr indent="0" marL="0">
              <a:buNone/>
            </a:pPr>
            <a:r>
              <a:rPr lang="en-US" sz="1250" dirty="0">
                <a:solidFill>
                  <a:srgbClr val="52514E"/>
                </a:solidFill>
              </a:rPr>
              <a:t>Cash/UPI's gain among cardholders vs non-cardholders: much stronger for cardholders than for the market</a:t>
            </a:r>
            <a:endParaRPr lang="en-US" sz="1250" dirty="0"/>
          </a:p>
        </p:txBody>
      </p:sp>
      <p:sp>
        <p:nvSpPr>
          <p:cNvPr id="17" name="badge Hypothesis"/>
          <p:cNvSpPr/>
          <p:nvPr/>
        </p:nvSpPr>
        <p:spPr>
          <a:xfrm>
            <a:off x="8001000" y="5349240"/>
            <a:ext cx="237744" cy="237744"/>
          </a:xfrm>
          <a:prstGeom prst="roundRect">
            <a:avLst>
              <a:gd name="adj" fmla="val 19231"/>
            </a:avLst>
          </a:prstGeom>
          <a:solidFill>
            <a:srgbClr val="E34948"/>
          </a:solidFill>
          <a:ln w="12700">
            <a:solidFill>
              <a:srgbClr val="E34948"/>
            </a:solidFill>
            <a:prstDash val="solid"/>
          </a:ln>
        </p:spPr>
      </p:sp>
      <p:sp>
        <p:nvSpPr>
          <p:cNvPr id="18" name="Text 15"/>
          <p:cNvSpPr txBox="1"/>
          <p:nvPr/>
        </p:nvSpPr>
        <p:spPr>
          <a:xfrm>
            <a:off x="8001000" y="5349240"/>
            <a:ext cx="237744" cy="237744"/>
          </a:xfrm>
          <a:prstGeom prst="rect">
            <a:avLst/>
          </a:prstGeom>
          <a:noFill/>
          <a:ln/>
        </p:spPr>
        <p:txBody>
          <a:bodyPr wrap="square" lIns="0" tIns="0" rIns="0" bIns="0" rtlCol="0" anchor="ctr"/>
          <a:lstStyle/>
          <a:p>
            <a:pPr algn="ctr" indent="0" marL="0">
              <a:buNone/>
            </a:pPr>
            <a:r>
              <a:rPr lang="en-US" sz="1000" b="1" dirty="0">
                <a:solidFill>
                  <a:srgbClr val="FFFFFF"/>
                </a:solidFill>
              </a:rPr>
              <a:t>H</a:t>
            </a:r>
            <a:endParaRPr lang="en-US" sz="1000" dirty="0"/>
          </a:p>
        </p:txBody>
      </p:sp>
      <p:sp>
        <p:nvSpPr>
          <p:cNvPr id="19" name="Text 16"/>
          <p:cNvSpPr txBox="1"/>
          <p:nvPr/>
        </p:nvSpPr>
        <p:spPr>
          <a:xfrm>
            <a:off x="8330184" y="5321808"/>
            <a:ext cx="3401568" cy="731520"/>
          </a:xfrm>
          <a:prstGeom prst="rect">
            <a:avLst/>
          </a:prstGeom>
          <a:noFill/>
          <a:ln/>
        </p:spPr>
        <p:txBody>
          <a:bodyPr wrap="square" lIns="0" tIns="0" rIns="0" bIns="0" rtlCol="0" anchor="t"/>
          <a:lstStyle/>
          <a:p>
            <a:pPr indent="0" marL="0">
              <a:buNone/>
            </a:pPr>
            <a:r>
              <a:rPr lang="en-US" sz="1250" dirty="0">
                <a:solidFill>
                  <a:srgbClr val="52514E"/>
                </a:solidFill>
              </a:rPr>
              <a:t>Why Cash/UPI? Immediacy: settled at once, while the card's reward arrives on next month's statement. The pilot tests it.</a:t>
            </a:r>
            <a:endParaRPr lang="en-US" sz="1250" dirty="0"/>
          </a:p>
        </p:txBody>
      </p:sp>
      <p:sp>
        <p:nvSpPr>
          <p:cNvPr id="20" name="Text 17"/>
          <p:cNvSpPr txBox="1"/>
          <p:nvPr/>
        </p:nvSpPr>
        <p:spPr>
          <a:xfrm>
            <a:off x="457200" y="5715000"/>
            <a:ext cx="7223760" cy="548640"/>
          </a:xfrm>
          <a:prstGeom prst="rect">
            <a:avLst/>
          </a:prstGeom>
          <a:noFill/>
          <a:ln/>
        </p:spPr>
        <p:txBody>
          <a:bodyPr wrap="square" lIns="0" tIns="0" rIns="0" bIns="0" rtlCol="0" anchor="t"/>
          <a:lstStyle/>
          <a:p>
            <a:pPr indent="0" marL="0">
              <a:buNone/>
            </a:pPr>
            <a:r>
              <a:rPr lang="en-US" sz="1100" dirty="0">
                <a:solidFill>
                  <a:srgbClr val="898781"/>
                </a:solidFill>
              </a:rPr>
              <a:t>SoW = HSIC net ÷ total net MetroMart spend, only while the card is open, net of returns (returns count as zero transactions). 38,164 cardholders, 444,118 transactions; 39 reproduction checks pass.</a:t>
            </a:r>
            <a:endParaRPr lang="en-US" sz="1100" dirty="0"/>
          </a:p>
        </p:txBody>
      </p:sp>
      <p:sp>
        <p:nvSpPr>
          <p:cNvPr id="25" name="Slide Number Placeholder 0"/>
          <p:cNvSpPr>
            <a:spLocks noGrp="1"/>
          </p:cNvSpPr>
          <p:nvPr>
            <p:ph type="sldNum" sz="quarter" idx="4294967295"/>
          </p:nvPr>
        </p:nvSpPr>
        <p:spPr>
          <a:xfrm>
            <a:off x="11338560" y="6446520"/>
            <a:ext cx="39319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98781"/>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457200" y="320040"/>
            <a:ext cx="11247120" cy="868680"/>
          </a:xfrm>
          <a:prstGeom prst="rect">
            <a:avLst/>
          </a:prstGeom>
          <a:noFill/>
          <a:ln/>
        </p:spPr>
        <p:txBody>
          <a:bodyPr wrap="square" lIns="0" tIns="0" rIns="0" bIns="0" rtlCol="0" anchor="t"/>
          <a:lstStyle/>
          <a:p>
            <a:pPr indent="0" marL="0">
              <a:buNone/>
            </a:pPr>
            <a:r>
              <a:rPr lang="en-US" sz="2400" b="1" dirty="0">
                <a:solidFill>
                  <a:srgbClr val="0F2747"/>
                </a:solidFill>
              </a:rPr>
              <a:t>It's universal: no customer group behaves differently, so low SoW is the whole book</a:t>
            </a:r>
            <a:endParaRPr lang="en-US" sz="2400" dirty="0"/>
          </a:p>
        </p:txBody>
      </p:sp>
      <p:sp>
        <p:nvSpPr>
          <p:cNvPr id="3" name="Shape 1"/>
          <p:cNvSpPr/>
          <p:nvPr/>
        </p:nvSpPr>
        <p:spPr>
          <a:xfrm>
            <a:off x="457200" y="1325880"/>
            <a:ext cx="7223760" cy="4143375"/>
          </a:xfrm>
          <a:prstGeom prst="roundRect">
            <a:avLst>
              <a:gd name="adj" fmla="val 1766"/>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pic>
        <p:nvPicPr>
          <p:cNvPr id="4" name="Image 0" descr="06_slices.png">    </p:cNvPr>
          <p:cNvPicPr>
            <a:picLocks noChangeAspect="1"/>
          </p:cNvPicPr>
          <p:nvPr/>
        </p:nvPicPr>
        <p:blipFill>
          <a:blip r:embed="rId1"/>
          <a:stretch>
            <a:fillRect/>
          </a:stretch>
        </p:blipFill>
        <p:spPr>
          <a:xfrm>
            <a:off x="548640" y="1417320"/>
            <a:ext cx="7040880" cy="3960495"/>
          </a:xfrm>
          <a:prstGeom prst="rect">
            <a:avLst/>
          </a:prstGeom>
        </p:spPr>
      </p:pic>
      <p:sp>
        <p:nvSpPr>
          <p:cNvPr id="5" name="Text 2"/>
          <p:cNvSpPr txBox="1"/>
          <p:nvPr/>
        </p:nvSpPr>
        <p:spPr>
          <a:xfrm>
            <a:off x="8001000" y="1371600"/>
            <a:ext cx="3364992" cy="502920"/>
          </a:xfrm>
          <a:prstGeom prst="rect">
            <a:avLst/>
          </a:prstGeom>
          <a:noFill/>
          <a:ln/>
        </p:spPr>
        <p:txBody>
          <a:bodyPr wrap="square" lIns="0" tIns="0" rIns="0" bIns="0" rtlCol="0" anchor="t"/>
          <a:lstStyle/>
          <a:p>
            <a:pPr indent="0" marL="0">
              <a:buNone/>
            </a:pPr>
            <a:r>
              <a:rPr lang="en-US" sz="2800" b="1" dirty="0">
                <a:solidFill>
                  <a:srgbClr val="0F2747"/>
                </a:solidFill>
              </a:rPr>
              <a:t>1.00</a:t>
            </a:r>
            <a:endParaRPr lang="en-US" sz="2800" dirty="0"/>
          </a:p>
        </p:txBody>
      </p:sp>
      <p:sp>
        <p:nvSpPr>
          <p:cNvPr id="6" name="badge Measured"/>
          <p:cNvSpPr/>
          <p:nvPr/>
        </p:nvSpPr>
        <p:spPr>
          <a:xfrm>
            <a:off x="11494008" y="1481328"/>
            <a:ext cx="237744" cy="237744"/>
          </a:xfrm>
          <a:prstGeom prst="roundRect">
            <a:avLst>
              <a:gd name="adj" fmla="val 19231"/>
            </a:avLst>
          </a:prstGeom>
          <a:solidFill>
            <a:srgbClr val="0B0B0B"/>
          </a:solidFill>
          <a:ln w="12700">
            <a:solidFill>
              <a:srgbClr val="0B0B0B"/>
            </a:solidFill>
            <a:prstDash val="solid"/>
          </a:ln>
        </p:spPr>
      </p:sp>
      <p:sp>
        <p:nvSpPr>
          <p:cNvPr id="7" name="Text 4"/>
          <p:cNvSpPr txBox="1"/>
          <p:nvPr/>
        </p:nvSpPr>
        <p:spPr>
          <a:xfrm>
            <a:off x="11494008" y="1481328"/>
            <a:ext cx="237744" cy="237744"/>
          </a:xfrm>
          <a:prstGeom prst="rect">
            <a:avLst/>
          </a:prstGeom>
          <a:noFill/>
          <a:ln/>
        </p:spPr>
        <p:txBody>
          <a:bodyPr wrap="square" lIns="0" tIns="0" rIns="0" bIns="0" rtlCol="0" anchor="ctr"/>
          <a:lstStyle/>
          <a:p>
            <a:pPr algn="ctr" indent="0" marL="0">
              <a:buNone/>
            </a:pPr>
            <a:r>
              <a:rPr lang="en-US" sz="1000" b="1" dirty="0">
                <a:solidFill>
                  <a:srgbClr val="FFFFFF"/>
                </a:solidFill>
              </a:rPr>
              <a:t>M</a:t>
            </a:r>
            <a:endParaRPr lang="en-US" sz="1000" dirty="0"/>
          </a:p>
        </p:txBody>
      </p:sp>
      <p:sp>
        <p:nvSpPr>
          <p:cNvPr id="8" name="Text 5"/>
          <p:cNvSpPr txBox="1"/>
          <p:nvPr/>
        </p:nvSpPr>
        <p:spPr>
          <a:xfrm>
            <a:off x="8001000" y="1901952"/>
            <a:ext cx="3730752" cy="685800"/>
          </a:xfrm>
          <a:prstGeom prst="rect">
            <a:avLst/>
          </a:prstGeom>
          <a:noFill/>
          <a:ln/>
        </p:spPr>
        <p:txBody>
          <a:bodyPr wrap="square" lIns="0" tIns="0" rIns="0" bIns="0" rtlCol="0" anchor="t"/>
          <a:lstStyle/>
          <a:p>
            <a:pPr indent="0" marL="0">
              <a:buNone/>
            </a:pPr>
            <a:r>
              <a:rPr lang="en-US" sz="1250" dirty="0">
                <a:solidFill>
                  <a:srgbClr val="52514E"/>
                </a:solidFill>
              </a:rPr>
              <a:t>Variance ratio: customers differ in how often they use the card no more than coin flips would. This year's share predicts next year's at r = 0.00</a:t>
            </a:r>
            <a:endParaRPr lang="en-US" sz="1250" dirty="0"/>
          </a:p>
        </p:txBody>
      </p:sp>
      <p:sp>
        <p:nvSpPr>
          <p:cNvPr id="9" name="Text 6"/>
          <p:cNvSpPr txBox="1"/>
          <p:nvPr/>
        </p:nvSpPr>
        <p:spPr>
          <a:xfrm>
            <a:off x="8001000" y="2697480"/>
            <a:ext cx="3364992" cy="502920"/>
          </a:xfrm>
          <a:prstGeom prst="rect">
            <a:avLst/>
          </a:prstGeom>
          <a:noFill/>
          <a:ln/>
        </p:spPr>
        <p:txBody>
          <a:bodyPr wrap="square" lIns="0" tIns="0" rIns="0" bIns="0" rtlCol="0" anchor="t"/>
          <a:lstStyle/>
          <a:p>
            <a:pPr indent="0" marL="0">
              <a:buNone/>
            </a:pPr>
            <a:r>
              <a:rPr lang="en-US" sz="2800" b="1" dirty="0">
                <a:solidFill>
                  <a:srgbClr val="0F2747"/>
                </a:solidFill>
              </a:rPr>
              <a:t>+21.5 pts → −0.3 pts</a:t>
            </a:r>
            <a:endParaRPr lang="en-US" sz="2800" dirty="0"/>
          </a:p>
        </p:txBody>
      </p:sp>
      <p:sp>
        <p:nvSpPr>
          <p:cNvPr id="10" name="badge Measured"/>
          <p:cNvSpPr/>
          <p:nvPr/>
        </p:nvSpPr>
        <p:spPr>
          <a:xfrm>
            <a:off x="11494008" y="2807208"/>
            <a:ext cx="237744" cy="237744"/>
          </a:xfrm>
          <a:prstGeom prst="roundRect">
            <a:avLst>
              <a:gd name="adj" fmla="val 19231"/>
            </a:avLst>
          </a:prstGeom>
          <a:solidFill>
            <a:srgbClr val="0B0B0B"/>
          </a:solidFill>
          <a:ln w="12700">
            <a:solidFill>
              <a:srgbClr val="0B0B0B"/>
            </a:solidFill>
            <a:prstDash val="solid"/>
          </a:ln>
        </p:spPr>
      </p:sp>
      <p:sp>
        <p:nvSpPr>
          <p:cNvPr id="11" name="Text 8"/>
          <p:cNvSpPr txBox="1"/>
          <p:nvPr/>
        </p:nvSpPr>
        <p:spPr>
          <a:xfrm>
            <a:off x="11494008" y="2807208"/>
            <a:ext cx="237744" cy="237744"/>
          </a:xfrm>
          <a:prstGeom prst="rect">
            <a:avLst/>
          </a:prstGeom>
          <a:noFill/>
          <a:ln/>
        </p:spPr>
        <p:txBody>
          <a:bodyPr wrap="square" lIns="0" tIns="0" rIns="0" bIns="0" rtlCol="0" anchor="ctr"/>
          <a:lstStyle/>
          <a:p>
            <a:pPr algn="ctr" indent="0" marL="0">
              <a:buNone/>
            </a:pPr>
            <a:r>
              <a:rPr lang="en-US" sz="1000" b="1" dirty="0">
                <a:solidFill>
                  <a:srgbClr val="FFFFFF"/>
                </a:solidFill>
              </a:rPr>
              <a:t>M</a:t>
            </a:r>
            <a:endParaRPr lang="en-US" sz="1000" dirty="0"/>
          </a:p>
        </p:txBody>
      </p:sp>
      <p:sp>
        <p:nvSpPr>
          <p:cNvPr id="12" name="Text 9"/>
          <p:cNvSpPr txBox="1"/>
          <p:nvPr/>
        </p:nvSpPr>
        <p:spPr>
          <a:xfrm>
            <a:off x="8001000" y="3227832"/>
            <a:ext cx="3730752" cy="685800"/>
          </a:xfrm>
          <a:prstGeom prst="rect">
            <a:avLst/>
          </a:prstGeom>
          <a:noFill/>
          <a:ln/>
        </p:spPr>
        <p:txBody>
          <a:bodyPr wrap="square" lIns="0" tIns="0" rIns="0" bIns="0" rtlCol="0" anchor="t"/>
          <a:lstStyle/>
          <a:p>
            <a:pPr indent="0" marL="0">
              <a:buNone/>
            </a:pPr>
            <a:r>
              <a:rPr lang="en-US" sz="1250" dirty="0">
                <a:solidFill>
                  <a:srgbClr val="52514E"/>
                </a:solidFill>
              </a:rPr>
              <a:t>"Silent attriters" by the usual count, and after allowing for the portfolio-wide trend: every open card is drifting, none faster</a:t>
            </a:r>
            <a:endParaRPr lang="en-US" sz="1250" dirty="0"/>
          </a:p>
        </p:txBody>
      </p:sp>
      <p:sp>
        <p:nvSpPr>
          <p:cNvPr id="13" name="Text 10"/>
          <p:cNvSpPr txBox="1"/>
          <p:nvPr/>
        </p:nvSpPr>
        <p:spPr>
          <a:xfrm>
            <a:off x="8001000" y="4023360"/>
            <a:ext cx="3364992" cy="502920"/>
          </a:xfrm>
          <a:prstGeom prst="rect">
            <a:avLst/>
          </a:prstGeom>
          <a:noFill/>
          <a:ln/>
        </p:spPr>
        <p:txBody>
          <a:bodyPr wrap="square" lIns="0" tIns="0" rIns="0" bIns="0" rtlCol="0" anchor="t"/>
          <a:lstStyle/>
          <a:p>
            <a:pPr indent="0" marL="0">
              <a:buNone/>
            </a:pPr>
            <a:r>
              <a:rPr lang="en-US" sz="2800" b="1" dirty="0">
                <a:solidFill>
                  <a:srgbClr val="0F2747"/>
                </a:solidFill>
              </a:rPr>
              <a:t>0.04%</a:t>
            </a:r>
            <a:endParaRPr lang="en-US" sz="2800" dirty="0"/>
          </a:p>
        </p:txBody>
      </p:sp>
      <p:sp>
        <p:nvSpPr>
          <p:cNvPr id="14" name="badge Measured"/>
          <p:cNvSpPr/>
          <p:nvPr/>
        </p:nvSpPr>
        <p:spPr>
          <a:xfrm>
            <a:off x="11494008" y="4133088"/>
            <a:ext cx="237744" cy="237744"/>
          </a:xfrm>
          <a:prstGeom prst="roundRect">
            <a:avLst>
              <a:gd name="adj" fmla="val 19231"/>
            </a:avLst>
          </a:prstGeom>
          <a:solidFill>
            <a:srgbClr val="0B0B0B"/>
          </a:solidFill>
          <a:ln w="12700">
            <a:solidFill>
              <a:srgbClr val="0B0B0B"/>
            </a:solidFill>
            <a:prstDash val="solid"/>
          </a:ln>
        </p:spPr>
      </p:sp>
      <p:sp>
        <p:nvSpPr>
          <p:cNvPr id="15" name="Text 12"/>
          <p:cNvSpPr txBox="1"/>
          <p:nvPr/>
        </p:nvSpPr>
        <p:spPr>
          <a:xfrm>
            <a:off x="11494008" y="4133088"/>
            <a:ext cx="237744" cy="237744"/>
          </a:xfrm>
          <a:prstGeom prst="rect">
            <a:avLst/>
          </a:prstGeom>
          <a:noFill/>
          <a:ln/>
        </p:spPr>
        <p:txBody>
          <a:bodyPr wrap="square" lIns="0" tIns="0" rIns="0" bIns="0" rtlCol="0" anchor="ctr"/>
          <a:lstStyle/>
          <a:p>
            <a:pPr algn="ctr" indent="0" marL="0">
              <a:buNone/>
            </a:pPr>
            <a:r>
              <a:rPr lang="en-US" sz="1000" b="1" dirty="0">
                <a:solidFill>
                  <a:srgbClr val="FFFFFF"/>
                </a:solidFill>
              </a:rPr>
              <a:t>M</a:t>
            </a:r>
            <a:endParaRPr lang="en-US" sz="1000" dirty="0"/>
          </a:p>
        </p:txBody>
      </p:sp>
      <p:sp>
        <p:nvSpPr>
          <p:cNvPr id="16" name="Text 13"/>
          <p:cNvSpPr txBox="1"/>
          <p:nvPr/>
        </p:nvSpPr>
        <p:spPr>
          <a:xfrm>
            <a:off x="8001000" y="4553712"/>
            <a:ext cx="3730752" cy="685800"/>
          </a:xfrm>
          <a:prstGeom prst="rect">
            <a:avLst/>
          </a:prstGeom>
          <a:noFill/>
          <a:ln/>
        </p:spPr>
        <p:txBody>
          <a:bodyPr wrap="square" lIns="0" tIns="0" rIns="0" bIns="0" rtlCol="0" anchor="t"/>
          <a:lstStyle/>
          <a:p>
            <a:pPr indent="0" marL="0">
              <a:buNone/>
            </a:pPr>
            <a:r>
              <a:rPr lang="en-US" sz="1250" dirty="0">
                <a:solidFill>
                  <a:srgbClr val="52514E"/>
                </a:solidFill>
              </a:rPr>
              <a:t>of next year's SoW explained by K-means clusters built on SoW: clustering would target noise</a:t>
            </a:r>
            <a:endParaRPr lang="en-US" sz="1250" dirty="0"/>
          </a:p>
        </p:txBody>
      </p:sp>
      <p:sp>
        <p:nvSpPr>
          <p:cNvPr id="17" name="Text 14"/>
          <p:cNvSpPr txBox="1"/>
          <p:nvPr/>
        </p:nvSpPr>
        <p:spPr>
          <a:xfrm>
            <a:off x="8001000" y="5349240"/>
            <a:ext cx="3730752" cy="548640"/>
          </a:xfrm>
          <a:prstGeom prst="rect">
            <a:avLst/>
          </a:prstGeom>
          <a:noFill/>
          <a:ln/>
        </p:spPr>
        <p:txBody>
          <a:bodyPr wrap="square" lIns="0" tIns="0" rIns="0" bIns="0" rtlCol="0" anchor="t"/>
          <a:lstStyle/>
          <a:p>
            <a:pPr indent="0" marL="0">
              <a:buNone/>
            </a:pPr>
            <a:r>
              <a:rPr lang="en-US" sz="1250" i="1" dirty="0">
                <a:solidFill>
                  <a:srgbClr val="52514E"/>
                </a:solidFill>
              </a:rPr>
              <a:t>We tested 17 common hypotheses, each against a simple baseline or a calendar-matched null.</a:t>
            </a:r>
            <a:endParaRPr lang="en-US" sz="1250" dirty="0"/>
          </a:p>
        </p:txBody>
      </p:sp>
      <p:sp>
        <p:nvSpPr>
          <p:cNvPr id="25" name="Slide Number Placeholder 0"/>
          <p:cNvSpPr>
            <a:spLocks noGrp="1"/>
          </p:cNvSpPr>
          <p:nvPr>
            <p:ph type="sldNum" sz="quarter" idx="4294967295"/>
          </p:nvPr>
        </p:nvSpPr>
        <p:spPr>
          <a:xfrm>
            <a:off x="11338560" y="6446520"/>
            <a:ext cx="39319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98781"/>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457200" y="320040"/>
            <a:ext cx="11247120" cy="868680"/>
          </a:xfrm>
          <a:prstGeom prst="rect">
            <a:avLst/>
          </a:prstGeom>
          <a:noFill/>
          <a:ln/>
        </p:spPr>
        <p:txBody>
          <a:bodyPr wrap="square" lIns="0" tIns="0" rIns="0" bIns="0" rtlCol="0" anchor="t"/>
          <a:lstStyle/>
          <a:p>
            <a:pPr indent="0" marL="0">
              <a:buNone/>
            </a:pPr>
            <a:r>
              <a:rPr lang="en-US" sz="2400" b="1" dirty="0">
                <a:solidFill>
                  <a:srgbClr val="0F2747"/>
                </a:solidFill>
              </a:rPr>
              <a:t>Closures doubled and sit in young cards: prioritise by risk × value, not by SoW</a:t>
            </a:r>
            <a:endParaRPr lang="en-US" sz="2400" dirty="0"/>
          </a:p>
        </p:txBody>
      </p:sp>
      <p:sp>
        <p:nvSpPr>
          <p:cNvPr id="3" name="Shape 1"/>
          <p:cNvSpPr/>
          <p:nvPr/>
        </p:nvSpPr>
        <p:spPr>
          <a:xfrm>
            <a:off x="457200" y="1325880"/>
            <a:ext cx="5577840" cy="3217545"/>
          </a:xfrm>
          <a:prstGeom prst="roundRect">
            <a:avLst>
              <a:gd name="adj" fmla="val 2274"/>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pic>
        <p:nvPicPr>
          <p:cNvPr id="4" name="Image 0" descr="08_closure_by_card_age.png">    </p:cNvPr>
          <p:cNvPicPr>
            <a:picLocks noChangeAspect="1"/>
          </p:cNvPicPr>
          <p:nvPr/>
        </p:nvPicPr>
        <p:blipFill>
          <a:blip r:embed="rId1"/>
          <a:stretch>
            <a:fillRect/>
          </a:stretch>
        </p:blipFill>
        <p:spPr>
          <a:xfrm>
            <a:off x="548640" y="1417320"/>
            <a:ext cx="5394960" cy="3034665"/>
          </a:xfrm>
          <a:prstGeom prst="rect">
            <a:avLst/>
          </a:prstGeom>
        </p:spPr>
      </p:pic>
      <p:sp>
        <p:nvSpPr>
          <p:cNvPr id="5" name="Text 2"/>
          <p:cNvSpPr txBox="1"/>
          <p:nvPr/>
        </p:nvSpPr>
        <p:spPr>
          <a:xfrm>
            <a:off x="457200" y="4617720"/>
            <a:ext cx="5257800" cy="914400"/>
          </a:xfrm>
          <a:prstGeom prst="rect">
            <a:avLst/>
          </a:prstGeom>
          <a:noFill/>
          <a:ln/>
        </p:spPr>
        <p:txBody>
          <a:bodyPr wrap="square" lIns="0" tIns="0" rIns="0" bIns="0" rtlCol="0" anchor="t"/>
          <a:lstStyle/>
          <a:p>
            <a:pPr indent="0" marL="0">
              <a:buNone/>
            </a:pPr>
            <a:r>
              <a:rPr lang="en-US" sz="2000" b="1" dirty="0">
                <a:solidFill>
                  <a:srgbClr val="0F2747"/>
                </a:solidFill>
              </a:rPr>
              <a:t>1.7% → 3.4%</a:t>
            </a:r>
            <a:pPr indent="0" marL="0">
              <a:buNone/>
            </a:pPr>
            <a:r>
              <a:rPr lang="en-US" sz="1250" dirty="0">
                <a:solidFill>
                  <a:srgbClr val="52514E"/>
                </a:solidFill>
              </a:rPr>
              <a:t>  of open cards closing per quarter. Card age alone predicts closure as well as any model we trained (ROC-AUC 0.672 vs 0.669)</a:t>
            </a:r>
            <a:endParaRPr lang="en-US" sz="1250" dirty="0"/>
          </a:p>
        </p:txBody>
      </p:sp>
      <p:sp>
        <p:nvSpPr>
          <p:cNvPr id="6" name="badge Measured"/>
          <p:cNvSpPr/>
          <p:nvPr/>
        </p:nvSpPr>
        <p:spPr>
          <a:xfrm>
            <a:off x="5797296" y="4663440"/>
            <a:ext cx="237744" cy="237744"/>
          </a:xfrm>
          <a:prstGeom prst="roundRect">
            <a:avLst>
              <a:gd name="adj" fmla="val 19231"/>
            </a:avLst>
          </a:prstGeom>
          <a:solidFill>
            <a:srgbClr val="0B0B0B"/>
          </a:solidFill>
          <a:ln w="12700">
            <a:solidFill>
              <a:srgbClr val="0B0B0B"/>
            </a:solidFill>
            <a:prstDash val="solid"/>
          </a:ln>
        </p:spPr>
      </p:sp>
      <p:sp>
        <p:nvSpPr>
          <p:cNvPr id="7" name="Text 4"/>
          <p:cNvSpPr txBox="1"/>
          <p:nvPr/>
        </p:nvSpPr>
        <p:spPr>
          <a:xfrm>
            <a:off x="5797296" y="4663440"/>
            <a:ext cx="237744" cy="237744"/>
          </a:xfrm>
          <a:prstGeom prst="rect">
            <a:avLst/>
          </a:prstGeom>
          <a:noFill/>
          <a:ln/>
        </p:spPr>
        <p:txBody>
          <a:bodyPr wrap="square" lIns="0" tIns="0" rIns="0" bIns="0" rtlCol="0" anchor="ctr"/>
          <a:lstStyle/>
          <a:p>
            <a:pPr algn="ctr" indent="0" marL="0">
              <a:buNone/>
            </a:pPr>
            <a:r>
              <a:rPr lang="en-US" sz="1000" b="1" dirty="0">
                <a:solidFill>
                  <a:srgbClr val="FFFFFF"/>
                </a:solidFill>
              </a:rPr>
              <a:t>M</a:t>
            </a:r>
            <a:endParaRPr lang="en-US" sz="1000" dirty="0"/>
          </a:p>
        </p:txBody>
      </p:sp>
      <p:sp>
        <p:nvSpPr>
          <p:cNvPr id="8" name="Text 5"/>
          <p:cNvSpPr txBox="1"/>
          <p:nvPr/>
        </p:nvSpPr>
        <p:spPr>
          <a:xfrm>
            <a:off x="7132320" y="1353312"/>
            <a:ext cx="2240280" cy="274320"/>
          </a:xfrm>
          <a:prstGeom prst="rect">
            <a:avLst/>
          </a:prstGeom>
          <a:noFill/>
          <a:ln/>
        </p:spPr>
        <p:txBody>
          <a:bodyPr wrap="square" lIns="0" tIns="0" rIns="0" bIns="0" rtlCol="0" anchor="t"/>
          <a:lstStyle/>
          <a:p>
            <a:pPr algn="ctr" indent="0" marL="0">
              <a:buNone/>
            </a:pPr>
            <a:r>
              <a:rPr lang="en-US" sz="1200" b="1" dirty="0">
                <a:solidFill>
                  <a:srgbClr val="52514E"/>
                </a:solidFill>
              </a:rPr>
              <a:t>Young card (&lt; 1 year)</a:t>
            </a:r>
            <a:endParaRPr lang="en-US" sz="1200" dirty="0"/>
          </a:p>
        </p:txBody>
      </p:sp>
      <p:sp>
        <p:nvSpPr>
          <p:cNvPr id="9" name="Text 6"/>
          <p:cNvSpPr txBox="1"/>
          <p:nvPr/>
        </p:nvSpPr>
        <p:spPr>
          <a:xfrm>
            <a:off x="9464040" y="1353312"/>
            <a:ext cx="2240280" cy="274320"/>
          </a:xfrm>
          <a:prstGeom prst="rect">
            <a:avLst/>
          </a:prstGeom>
          <a:noFill/>
          <a:ln/>
        </p:spPr>
        <p:txBody>
          <a:bodyPr wrap="square" lIns="0" tIns="0" rIns="0" bIns="0" rtlCol="0" anchor="t"/>
          <a:lstStyle/>
          <a:p>
            <a:pPr algn="ctr" indent="0" marL="0">
              <a:buNone/>
            </a:pPr>
            <a:r>
              <a:rPr lang="en-US" sz="1200" b="1" dirty="0">
                <a:solidFill>
                  <a:srgbClr val="52514E"/>
                </a:solidFill>
              </a:rPr>
              <a:t>Mature card</a:t>
            </a:r>
            <a:endParaRPr lang="en-US" sz="1200" dirty="0"/>
          </a:p>
        </p:txBody>
      </p:sp>
      <p:sp>
        <p:nvSpPr>
          <p:cNvPr id="10" name="Text 7"/>
          <p:cNvSpPr txBox="1"/>
          <p:nvPr/>
        </p:nvSpPr>
        <p:spPr>
          <a:xfrm>
            <a:off x="6263640" y="2103120"/>
            <a:ext cx="777240" cy="731520"/>
          </a:xfrm>
          <a:prstGeom prst="rect">
            <a:avLst/>
          </a:prstGeom>
          <a:noFill/>
          <a:ln/>
        </p:spPr>
        <p:txBody>
          <a:bodyPr wrap="square" lIns="0" tIns="0" rIns="0" bIns="0" rtlCol="0" anchor="t"/>
          <a:lstStyle/>
          <a:p>
            <a:pPr indent="0" marL="0">
              <a:buNone/>
            </a:pPr>
            <a:r>
              <a:rPr lang="en-US" sz="1100" b="1" dirty="0">
                <a:solidFill>
                  <a:srgbClr val="52514E"/>
                </a:solidFill>
              </a:rPr>
              <a:t>High purchase frequency</a:t>
            </a:r>
            <a:endParaRPr lang="en-US" sz="1100" dirty="0"/>
          </a:p>
        </p:txBody>
      </p:sp>
      <p:sp>
        <p:nvSpPr>
          <p:cNvPr id="11" name="Text 8"/>
          <p:cNvSpPr txBox="1"/>
          <p:nvPr/>
        </p:nvSpPr>
        <p:spPr>
          <a:xfrm>
            <a:off x="6263640" y="3657600"/>
            <a:ext cx="777240" cy="731520"/>
          </a:xfrm>
          <a:prstGeom prst="rect">
            <a:avLst/>
          </a:prstGeom>
          <a:noFill/>
          <a:ln/>
        </p:spPr>
        <p:txBody>
          <a:bodyPr wrap="square" lIns="0" tIns="0" rIns="0" bIns="0" rtlCol="0" anchor="t"/>
          <a:lstStyle/>
          <a:p>
            <a:pPr indent="0" marL="0">
              <a:buNone/>
            </a:pPr>
            <a:r>
              <a:rPr lang="en-US" sz="1100" b="1" dirty="0">
                <a:solidFill>
                  <a:srgbClr val="52514E"/>
                </a:solidFill>
              </a:rPr>
              <a:t>Low / mid frequency</a:t>
            </a:r>
            <a:endParaRPr lang="en-US" sz="1100" dirty="0"/>
          </a:p>
        </p:txBody>
      </p:sp>
      <p:sp>
        <p:nvSpPr>
          <p:cNvPr id="12" name="Shape 9"/>
          <p:cNvSpPr/>
          <p:nvPr/>
        </p:nvSpPr>
        <p:spPr>
          <a:xfrm>
            <a:off x="7132320" y="1691640"/>
            <a:ext cx="2240280" cy="1463040"/>
          </a:xfrm>
          <a:prstGeom prst="roundRect">
            <a:avLst>
              <a:gd name="adj" fmla="val 5000"/>
            </a:avLst>
          </a:prstGeom>
          <a:solidFill>
            <a:srgbClr val="2A78D6"/>
          </a:solidFill>
          <a:ln w="12700">
            <a:solidFill>
              <a:srgbClr val="2A78D6"/>
            </a:solidFill>
            <a:prstDash val="solid"/>
          </a:ln>
          <a:effectLst>
            <a:outerShdw sx="100000" sy="100000" kx="0" ky="0" algn="bl" rotWithShape="0" blurRad="76200" dist="25400" dir="5400000">
              <a:srgbClr val="000000">
                <a:alpha val="12000"/>
              </a:srgbClr>
            </a:outerShdw>
          </a:effectLst>
        </p:spPr>
      </p:sp>
      <p:sp>
        <p:nvSpPr>
          <p:cNvPr id="13" name="Text 10"/>
          <p:cNvSpPr txBox="1"/>
          <p:nvPr/>
        </p:nvSpPr>
        <p:spPr>
          <a:xfrm>
            <a:off x="7269480" y="1801368"/>
            <a:ext cx="1965960" cy="320040"/>
          </a:xfrm>
          <a:prstGeom prst="rect">
            <a:avLst/>
          </a:prstGeom>
          <a:noFill/>
          <a:ln/>
        </p:spPr>
        <p:txBody>
          <a:bodyPr wrap="square" lIns="0" tIns="0" rIns="0" bIns="0" rtlCol="0" anchor="t"/>
          <a:lstStyle/>
          <a:p>
            <a:pPr indent="0" marL="0">
              <a:buNone/>
            </a:pPr>
            <a:r>
              <a:rPr lang="en-US" sz="1500" b="1" dirty="0">
                <a:solidFill>
                  <a:srgbClr val="FFFFFF"/>
                </a:solidFill>
              </a:rPr>
              <a:t>B. Protect first</a:t>
            </a:r>
            <a:endParaRPr lang="en-US" sz="1500" dirty="0"/>
          </a:p>
        </p:txBody>
      </p:sp>
      <p:sp>
        <p:nvSpPr>
          <p:cNvPr id="14" name="Text 11"/>
          <p:cNvSpPr txBox="1"/>
          <p:nvPr/>
        </p:nvSpPr>
        <p:spPr>
          <a:xfrm>
            <a:off x="7269480" y="2148840"/>
            <a:ext cx="1965960" cy="960120"/>
          </a:xfrm>
          <a:prstGeom prst="rect">
            <a:avLst/>
          </a:prstGeom>
          <a:noFill/>
          <a:ln/>
        </p:spPr>
        <p:txBody>
          <a:bodyPr wrap="square" lIns="0" tIns="0" rIns="0" bIns="0" rtlCol="0" anchor="t"/>
          <a:lstStyle/>
          <a:p>
            <a:pPr indent="0" marL="0">
              <a:buNone/>
            </a:pPr>
            <a:r>
              <a:rPr lang="en-US" sz="1200" b="1" dirty="0">
                <a:solidFill>
                  <a:srgbClr val="FFFFFF"/>
                </a:solidFill>
              </a:rPr>
              <a:t>1,961 cards</a:t>
            </a:r>
            <a:endParaRPr lang="en-US" sz="1200" dirty="0"/>
          </a:p>
          <a:p>
            <a:pPr indent="0" marL="0">
              <a:buNone/>
            </a:pPr>
            <a:r>
              <a:rPr lang="en-US" sz="1200" dirty="0">
                <a:solidFill>
                  <a:srgbClr val="FFFFFF"/>
                </a:solidFill>
              </a:rPr>
              <a:t>closes 11.6% in 6 months</a:t>
            </a:r>
            <a:endParaRPr lang="en-US" sz="1200" dirty="0"/>
          </a:p>
          <a:p>
            <a:pPr indent="0" marL="0">
              <a:buNone/>
            </a:pPr>
            <a:r>
              <a:rPr lang="en-US" sz="1200" dirty="0">
                <a:solidFill>
                  <a:srgbClr val="FFFFFF"/>
                </a:solidFill>
              </a:rPr>
              <a:t>₹6,235 off-card per customer</a:t>
            </a:r>
            <a:endParaRPr lang="en-US" sz="1200" dirty="0"/>
          </a:p>
          <a:p>
            <a:pPr indent="0" marL="0">
              <a:buNone/>
            </a:pPr>
            <a:r>
              <a:rPr lang="en-US" sz="1200" dirty="0">
                <a:solidFill>
                  <a:srgbClr val="FFFFFF"/>
                </a:solidFill>
              </a:rPr>
              <a:t>SoW 16.1%</a:t>
            </a:r>
            <a:endParaRPr lang="en-US" sz="1200" dirty="0"/>
          </a:p>
        </p:txBody>
      </p:sp>
      <p:sp>
        <p:nvSpPr>
          <p:cNvPr id="15" name="Shape 12"/>
          <p:cNvSpPr/>
          <p:nvPr/>
        </p:nvSpPr>
        <p:spPr>
          <a:xfrm>
            <a:off x="9464040" y="1691640"/>
            <a:ext cx="2240280" cy="1463040"/>
          </a:xfrm>
          <a:prstGeom prst="roundRect">
            <a:avLst>
              <a:gd name="adj" fmla="val 5000"/>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16" name="Text 13"/>
          <p:cNvSpPr txBox="1"/>
          <p:nvPr/>
        </p:nvSpPr>
        <p:spPr>
          <a:xfrm>
            <a:off x="9601200" y="1801368"/>
            <a:ext cx="1965960" cy="320040"/>
          </a:xfrm>
          <a:prstGeom prst="rect">
            <a:avLst/>
          </a:prstGeom>
          <a:noFill/>
          <a:ln/>
        </p:spPr>
        <p:txBody>
          <a:bodyPr wrap="square" lIns="0" tIns="0" rIns="0" bIns="0" rtlCol="0" anchor="t"/>
          <a:lstStyle/>
          <a:p>
            <a:pPr indent="0" marL="0">
              <a:buNone/>
            </a:pPr>
            <a:r>
              <a:rPr lang="en-US" sz="1500" b="1" dirty="0">
                <a:solidFill>
                  <a:srgbClr val="0F2747"/>
                </a:solidFill>
              </a:rPr>
              <a:t>D. Grow</a:t>
            </a:r>
            <a:endParaRPr lang="en-US" sz="1500" dirty="0"/>
          </a:p>
        </p:txBody>
      </p:sp>
      <p:sp>
        <p:nvSpPr>
          <p:cNvPr id="17" name="Text 14"/>
          <p:cNvSpPr txBox="1"/>
          <p:nvPr/>
        </p:nvSpPr>
        <p:spPr>
          <a:xfrm>
            <a:off x="9601200" y="2148840"/>
            <a:ext cx="1965960" cy="960120"/>
          </a:xfrm>
          <a:prstGeom prst="rect">
            <a:avLst/>
          </a:prstGeom>
          <a:noFill/>
          <a:ln/>
        </p:spPr>
        <p:txBody>
          <a:bodyPr wrap="square" lIns="0" tIns="0" rIns="0" bIns="0" rtlCol="0" anchor="t"/>
          <a:lstStyle/>
          <a:p>
            <a:pPr indent="0" marL="0">
              <a:buNone/>
            </a:pPr>
            <a:r>
              <a:rPr lang="en-US" sz="1200" b="1" dirty="0">
                <a:solidFill>
                  <a:srgbClr val="52514E"/>
                </a:solidFill>
              </a:rPr>
              <a:t>7,486 cards</a:t>
            </a:r>
            <a:endParaRPr lang="en-US" sz="1200" dirty="0"/>
          </a:p>
          <a:p>
            <a:pPr indent="0" marL="0">
              <a:buNone/>
            </a:pPr>
            <a:r>
              <a:rPr lang="en-US" sz="1200" dirty="0">
                <a:solidFill>
                  <a:srgbClr val="52514E"/>
                </a:solidFill>
              </a:rPr>
              <a:t>closes 4.2% in 6 months</a:t>
            </a:r>
            <a:endParaRPr lang="en-US" sz="1200" dirty="0"/>
          </a:p>
          <a:p>
            <a:pPr indent="0" marL="0">
              <a:buNone/>
            </a:pPr>
            <a:r>
              <a:rPr lang="en-US" sz="1200" dirty="0">
                <a:solidFill>
                  <a:srgbClr val="52514E"/>
                </a:solidFill>
              </a:rPr>
              <a:t>₹6,393 off-card per customer</a:t>
            </a:r>
            <a:endParaRPr lang="en-US" sz="1200" dirty="0"/>
          </a:p>
          <a:p>
            <a:pPr indent="0" marL="0">
              <a:buNone/>
            </a:pPr>
            <a:r>
              <a:rPr lang="en-US" sz="1200" dirty="0">
                <a:solidFill>
                  <a:srgbClr val="52514E"/>
                </a:solidFill>
              </a:rPr>
              <a:t>SoW 17.1%</a:t>
            </a:r>
            <a:endParaRPr lang="en-US" sz="1200" dirty="0"/>
          </a:p>
        </p:txBody>
      </p:sp>
      <p:sp>
        <p:nvSpPr>
          <p:cNvPr id="18" name="Shape 15"/>
          <p:cNvSpPr/>
          <p:nvPr/>
        </p:nvSpPr>
        <p:spPr>
          <a:xfrm>
            <a:off x="7132320" y="3246120"/>
            <a:ext cx="2240280" cy="1463040"/>
          </a:xfrm>
          <a:prstGeom prst="roundRect">
            <a:avLst>
              <a:gd name="adj" fmla="val 5000"/>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19" name="Text 16"/>
          <p:cNvSpPr txBox="1"/>
          <p:nvPr/>
        </p:nvSpPr>
        <p:spPr>
          <a:xfrm>
            <a:off x="7269480" y="3355848"/>
            <a:ext cx="1965960" cy="320040"/>
          </a:xfrm>
          <a:prstGeom prst="rect">
            <a:avLst/>
          </a:prstGeom>
          <a:noFill/>
          <a:ln/>
        </p:spPr>
        <p:txBody>
          <a:bodyPr wrap="square" lIns="0" tIns="0" rIns="0" bIns="0" rtlCol="0" anchor="t"/>
          <a:lstStyle/>
          <a:p>
            <a:pPr indent="0" marL="0">
              <a:buNone/>
            </a:pPr>
            <a:r>
              <a:rPr lang="en-US" sz="1500" b="1" dirty="0">
                <a:solidFill>
                  <a:srgbClr val="0F2747"/>
                </a:solidFill>
              </a:rPr>
              <a:t>C. Activate</a:t>
            </a:r>
            <a:endParaRPr lang="en-US" sz="1500" dirty="0"/>
          </a:p>
        </p:txBody>
      </p:sp>
      <p:sp>
        <p:nvSpPr>
          <p:cNvPr id="20" name="Text 17"/>
          <p:cNvSpPr txBox="1"/>
          <p:nvPr/>
        </p:nvSpPr>
        <p:spPr>
          <a:xfrm>
            <a:off x="7269480" y="3703320"/>
            <a:ext cx="1965960" cy="960120"/>
          </a:xfrm>
          <a:prstGeom prst="rect">
            <a:avLst/>
          </a:prstGeom>
          <a:noFill/>
          <a:ln/>
        </p:spPr>
        <p:txBody>
          <a:bodyPr wrap="square" lIns="0" tIns="0" rIns="0" bIns="0" rtlCol="0" anchor="t"/>
          <a:lstStyle/>
          <a:p>
            <a:pPr indent="0" marL="0">
              <a:buNone/>
            </a:pPr>
            <a:r>
              <a:rPr lang="en-US" sz="1200" b="1" dirty="0">
                <a:solidFill>
                  <a:srgbClr val="52514E"/>
                </a:solidFill>
              </a:rPr>
              <a:t>4,352 cards</a:t>
            </a:r>
            <a:endParaRPr lang="en-US" sz="1200" dirty="0"/>
          </a:p>
          <a:p>
            <a:pPr indent="0" marL="0">
              <a:buNone/>
            </a:pPr>
            <a:r>
              <a:rPr lang="en-US" sz="1200" dirty="0">
                <a:solidFill>
                  <a:srgbClr val="52514E"/>
                </a:solidFill>
              </a:rPr>
              <a:t>closes 12.1% in 6 months</a:t>
            </a:r>
            <a:endParaRPr lang="en-US" sz="1200" dirty="0"/>
          </a:p>
          <a:p>
            <a:pPr indent="0" marL="0">
              <a:buNone/>
            </a:pPr>
            <a:r>
              <a:rPr lang="en-US" sz="1200" dirty="0">
                <a:solidFill>
                  <a:srgbClr val="52514E"/>
                </a:solidFill>
              </a:rPr>
              <a:t>₹3,976 off-card per customer</a:t>
            </a:r>
            <a:endParaRPr lang="en-US" sz="1200" dirty="0"/>
          </a:p>
          <a:p>
            <a:pPr indent="0" marL="0">
              <a:buNone/>
            </a:pPr>
            <a:r>
              <a:rPr lang="en-US" sz="1200" dirty="0">
                <a:solidFill>
                  <a:srgbClr val="52514E"/>
                </a:solidFill>
              </a:rPr>
              <a:t>SoW 17.7%</a:t>
            </a:r>
            <a:endParaRPr lang="en-US" sz="1200" dirty="0"/>
          </a:p>
        </p:txBody>
      </p:sp>
      <p:sp>
        <p:nvSpPr>
          <p:cNvPr id="21" name="Shape 18"/>
          <p:cNvSpPr/>
          <p:nvPr/>
        </p:nvSpPr>
        <p:spPr>
          <a:xfrm>
            <a:off x="9464040" y="3246120"/>
            <a:ext cx="2240280" cy="1463040"/>
          </a:xfrm>
          <a:prstGeom prst="roundRect">
            <a:avLst>
              <a:gd name="adj" fmla="val 5000"/>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22" name="Text 19"/>
          <p:cNvSpPr txBox="1"/>
          <p:nvPr/>
        </p:nvSpPr>
        <p:spPr>
          <a:xfrm>
            <a:off x="9601200" y="3355848"/>
            <a:ext cx="1965960" cy="320040"/>
          </a:xfrm>
          <a:prstGeom prst="rect">
            <a:avLst/>
          </a:prstGeom>
          <a:noFill/>
          <a:ln/>
        </p:spPr>
        <p:txBody>
          <a:bodyPr wrap="square" lIns="0" tIns="0" rIns="0" bIns="0" rtlCol="0" anchor="t"/>
          <a:lstStyle/>
          <a:p>
            <a:pPr indent="0" marL="0">
              <a:buNone/>
            </a:pPr>
            <a:r>
              <a:rPr lang="en-US" sz="1500" b="1" dirty="0">
                <a:solidFill>
                  <a:srgbClr val="0F2747"/>
                </a:solidFill>
              </a:rPr>
              <a:t>E. Nudge</a:t>
            </a:r>
            <a:endParaRPr lang="en-US" sz="1500" dirty="0"/>
          </a:p>
        </p:txBody>
      </p:sp>
      <p:sp>
        <p:nvSpPr>
          <p:cNvPr id="23" name="Text 20"/>
          <p:cNvSpPr txBox="1"/>
          <p:nvPr/>
        </p:nvSpPr>
        <p:spPr>
          <a:xfrm>
            <a:off x="9601200" y="3703320"/>
            <a:ext cx="1965960" cy="960120"/>
          </a:xfrm>
          <a:prstGeom prst="rect">
            <a:avLst/>
          </a:prstGeom>
          <a:noFill/>
          <a:ln/>
        </p:spPr>
        <p:txBody>
          <a:bodyPr wrap="square" lIns="0" tIns="0" rIns="0" bIns="0" rtlCol="0" anchor="t"/>
          <a:lstStyle/>
          <a:p>
            <a:pPr indent="0" marL="0">
              <a:buNone/>
            </a:pPr>
            <a:r>
              <a:rPr lang="en-US" sz="1200" b="1" dirty="0">
                <a:solidFill>
                  <a:srgbClr val="52514E"/>
                </a:solidFill>
              </a:rPr>
              <a:t>16,720 cards</a:t>
            </a:r>
            <a:endParaRPr lang="en-US" sz="1200" dirty="0"/>
          </a:p>
          <a:p>
            <a:pPr indent="0" marL="0">
              <a:buNone/>
            </a:pPr>
            <a:r>
              <a:rPr lang="en-US" sz="1200" dirty="0">
                <a:solidFill>
                  <a:srgbClr val="52514E"/>
                </a:solidFill>
              </a:rPr>
              <a:t>closes 4.3% in 6 months</a:t>
            </a:r>
            <a:endParaRPr lang="en-US" sz="1200" dirty="0"/>
          </a:p>
          <a:p>
            <a:pPr indent="0" marL="0">
              <a:buNone/>
            </a:pPr>
            <a:r>
              <a:rPr lang="en-US" sz="1200" dirty="0">
                <a:solidFill>
                  <a:srgbClr val="52514E"/>
                </a:solidFill>
              </a:rPr>
              <a:t>₹4,139 off-card per customer</a:t>
            </a:r>
            <a:endParaRPr lang="en-US" sz="1200" dirty="0"/>
          </a:p>
          <a:p>
            <a:pPr indent="0" marL="0">
              <a:buNone/>
            </a:pPr>
            <a:r>
              <a:rPr lang="en-US" sz="1200" dirty="0">
                <a:solidFill>
                  <a:srgbClr val="52514E"/>
                </a:solidFill>
              </a:rPr>
              <a:t>SoW 17.2%</a:t>
            </a:r>
            <a:endParaRPr lang="en-US" sz="1200" dirty="0"/>
          </a:p>
        </p:txBody>
      </p:sp>
      <p:sp>
        <p:nvSpPr>
          <p:cNvPr id="24" name="Text 21"/>
          <p:cNvSpPr txBox="1"/>
          <p:nvPr/>
        </p:nvSpPr>
        <p:spPr>
          <a:xfrm>
            <a:off x="6263640" y="4846320"/>
            <a:ext cx="5440680" cy="914400"/>
          </a:xfrm>
          <a:prstGeom prst="rect">
            <a:avLst/>
          </a:prstGeom>
          <a:noFill/>
          <a:ln/>
        </p:spPr>
        <p:txBody>
          <a:bodyPr wrap="square" lIns="0" tIns="0" rIns="0" bIns="0" rtlCol="0" anchor="t"/>
          <a:lstStyle/>
          <a:p>
            <a:pPr indent="0" marL="0">
              <a:buNone/>
            </a:pPr>
            <a:r>
              <a:rPr lang="en-US" sz="1250" b="1" dirty="0">
                <a:solidFill>
                  <a:srgbClr val="0F2747"/>
                </a:solidFill>
              </a:rPr>
              <a:t>SoW is within 1.7 pts in every box</a:t>
            </a:r>
            <a:pPr indent="0" marL="0">
              <a:buNone/>
            </a:pPr>
            <a:r>
              <a:rPr lang="en-US" sz="1250" dirty="0">
                <a:solidFill>
                  <a:srgbClr val="52514E"/>
                </a:solidFill>
              </a:rPr>
              <a:t>: risk and value separate customers, SoW doesn't. Outside the grid: 5,903 closed cardholders still spending at MetroMart (₹92.3M since closing): the win-back segment.</a:t>
            </a:r>
            <a:endParaRPr lang="en-US" sz="1250" dirty="0"/>
          </a:p>
        </p:txBody>
      </p:sp>
      <p:sp>
        <p:nvSpPr>
          <p:cNvPr id="25" name="Slide Number Placeholder 0"/>
          <p:cNvSpPr>
            <a:spLocks noGrp="1"/>
          </p:cNvSpPr>
          <p:nvPr>
            <p:ph type="sldNum" sz="quarter" idx="4294967295"/>
          </p:nvPr>
        </p:nvSpPr>
        <p:spPr>
          <a:xfrm>
            <a:off x="11338560" y="6446520"/>
            <a:ext cx="39319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98781"/>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457200" y="320040"/>
            <a:ext cx="11247120" cy="868680"/>
          </a:xfrm>
          <a:prstGeom prst="rect">
            <a:avLst/>
          </a:prstGeom>
          <a:noFill/>
          <a:ln/>
        </p:spPr>
        <p:txBody>
          <a:bodyPr wrap="square" lIns="0" tIns="0" rIns="0" bIns="0" rtlCol="0" anchor="t"/>
          <a:lstStyle/>
          <a:p>
            <a:pPr indent="0" marL="0">
              <a:buNone/>
            </a:pPr>
            <a:r>
              <a:rPr lang="en-US" sz="2400" b="1" dirty="0">
                <a:solidFill>
                  <a:srgbClr val="0F2747"/>
                </a:solidFill>
              </a:rPr>
              <a:t>Three product fixes first; paid offers only where they pay back</a:t>
            </a:r>
            <a:endParaRPr lang="en-US" sz="2400" dirty="0"/>
          </a:p>
        </p:txBody>
      </p:sp>
      <p:sp>
        <p:nvSpPr>
          <p:cNvPr id="3" name="Shape 1"/>
          <p:cNvSpPr/>
          <p:nvPr/>
        </p:nvSpPr>
        <p:spPr>
          <a:xfrm>
            <a:off x="457200" y="1325880"/>
            <a:ext cx="5806440" cy="1481328"/>
          </a:xfrm>
          <a:prstGeom prst="roundRect">
            <a:avLst>
              <a:gd name="adj" fmla="val 4938"/>
            </a:avLst>
          </a:prstGeom>
          <a:solidFill>
            <a:srgbClr val="E8F1FC"/>
          </a:solidFill>
          <a:ln w="12700">
            <a:solidFill>
              <a:srgbClr val="E8F1FC"/>
            </a:solidFill>
            <a:prstDash val="solid"/>
          </a:ln>
          <a:effectLst>
            <a:outerShdw sx="100000" sy="100000" kx="0" ky="0" algn="bl" rotWithShape="0" blurRad="76200" dist="25400" dir="5400000">
              <a:srgbClr val="000000">
                <a:alpha val="12000"/>
              </a:srgbClr>
            </a:outerShdw>
          </a:effectLst>
        </p:spPr>
      </p:sp>
      <p:sp>
        <p:nvSpPr>
          <p:cNvPr id="4" name="Text 2"/>
          <p:cNvSpPr txBox="1"/>
          <p:nvPr/>
        </p:nvSpPr>
        <p:spPr>
          <a:xfrm>
            <a:off x="640080" y="1435608"/>
            <a:ext cx="4023360" cy="320040"/>
          </a:xfrm>
          <a:prstGeom prst="rect">
            <a:avLst/>
          </a:prstGeom>
          <a:noFill/>
          <a:ln/>
        </p:spPr>
        <p:txBody>
          <a:bodyPr wrap="square" lIns="0" tIns="0" rIns="0" bIns="0" rtlCol="0" anchor="t"/>
          <a:lstStyle/>
          <a:p>
            <a:pPr indent="0" marL="0">
              <a:buNone/>
            </a:pPr>
            <a:r>
              <a:rPr lang="en-US" sz="1500" b="1" dirty="0">
                <a:solidFill>
                  <a:srgbClr val="0F2747"/>
                </a:solidFill>
              </a:rPr>
              <a:t>O3  Reward visibility (hero)</a:t>
            </a:r>
            <a:endParaRPr lang="en-US" sz="1500" dirty="0"/>
          </a:p>
        </p:txBody>
      </p:sp>
      <p:sp>
        <p:nvSpPr>
          <p:cNvPr id="5" name="badge Hypothesis"/>
          <p:cNvSpPr/>
          <p:nvPr/>
        </p:nvSpPr>
        <p:spPr>
          <a:xfrm>
            <a:off x="4617720" y="1463040"/>
            <a:ext cx="237744" cy="237744"/>
          </a:xfrm>
          <a:prstGeom prst="roundRect">
            <a:avLst>
              <a:gd name="adj" fmla="val 19231"/>
            </a:avLst>
          </a:prstGeom>
          <a:solidFill>
            <a:srgbClr val="E34948"/>
          </a:solidFill>
          <a:ln w="12700">
            <a:solidFill>
              <a:srgbClr val="E34948"/>
            </a:solidFill>
            <a:prstDash val="solid"/>
          </a:ln>
        </p:spPr>
      </p:sp>
      <p:sp>
        <p:nvSpPr>
          <p:cNvPr id="6" name="Text 4"/>
          <p:cNvSpPr txBox="1"/>
          <p:nvPr/>
        </p:nvSpPr>
        <p:spPr>
          <a:xfrm>
            <a:off x="4617720" y="1463040"/>
            <a:ext cx="237744" cy="237744"/>
          </a:xfrm>
          <a:prstGeom prst="rect">
            <a:avLst/>
          </a:prstGeom>
          <a:noFill/>
          <a:ln/>
        </p:spPr>
        <p:txBody>
          <a:bodyPr wrap="square" lIns="0" tIns="0" rIns="0" bIns="0" rtlCol="0" anchor="ctr"/>
          <a:lstStyle/>
          <a:p>
            <a:pPr algn="ctr" indent="0" marL="0">
              <a:buNone/>
            </a:pPr>
            <a:r>
              <a:rPr lang="en-US" sz="1000" b="1" dirty="0">
                <a:solidFill>
                  <a:srgbClr val="FFFFFF"/>
                </a:solidFill>
              </a:rPr>
              <a:t>H</a:t>
            </a:r>
            <a:endParaRPr lang="en-US" sz="1000" dirty="0"/>
          </a:p>
        </p:txBody>
      </p:sp>
      <p:sp>
        <p:nvSpPr>
          <p:cNvPr id="7" name="Text 5"/>
          <p:cNvSpPr txBox="1"/>
          <p:nvPr/>
        </p:nvSpPr>
        <p:spPr>
          <a:xfrm>
            <a:off x="4919472" y="1453896"/>
            <a:ext cx="1280160" cy="274320"/>
          </a:xfrm>
          <a:prstGeom prst="rect">
            <a:avLst/>
          </a:prstGeom>
          <a:noFill/>
          <a:ln/>
        </p:spPr>
        <p:txBody>
          <a:bodyPr wrap="square" lIns="0" tIns="0" rIns="0" bIns="0" rtlCol="0" anchor="t"/>
          <a:lstStyle/>
          <a:p>
            <a:pPr indent="0" marL="0">
              <a:buNone/>
            </a:pPr>
            <a:r>
              <a:rPr lang="en-US" sz="1150" dirty="0">
                <a:solidFill>
                  <a:srgbClr val="52514E"/>
                </a:solidFill>
              </a:rPr>
              <a:t>Is it awareness?</a:t>
            </a:r>
            <a:endParaRPr lang="en-US" sz="1150" dirty="0"/>
          </a:p>
        </p:txBody>
      </p:sp>
      <p:sp>
        <p:nvSpPr>
          <p:cNvPr id="8" name="Text 6"/>
          <p:cNvSpPr txBox="1"/>
          <p:nvPr/>
        </p:nvSpPr>
        <p:spPr>
          <a:xfrm>
            <a:off x="640080" y="1783080"/>
            <a:ext cx="5440680" cy="411480"/>
          </a:xfrm>
          <a:prstGeom prst="rect">
            <a:avLst/>
          </a:prstGeom>
          <a:noFill/>
          <a:ln/>
        </p:spPr>
        <p:txBody>
          <a:bodyPr wrap="square" lIns="0" tIns="0" rIns="0" bIns="0" rtlCol="0" anchor="t"/>
          <a:lstStyle/>
          <a:p>
            <a:pPr indent="0" marL="0">
              <a:buNone/>
            </a:pPr>
            <a:r>
              <a:rPr lang="en-US" sz="1200" dirty="0">
                <a:solidFill>
                  <a:srgbClr val="0B0B0B"/>
                </a:solidFill>
              </a:rPr>
              <a:t>A till and receipt line, "Pay with HSIC: earn ₹X on this basket", and a monthly "₹ you left on the table".</a:t>
            </a:r>
            <a:endParaRPr lang="en-US" sz="1200" dirty="0"/>
          </a:p>
        </p:txBody>
      </p:sp>
      <p:sp>
        <p:nvSpPr>
          <p:cNvPr id="9" name="badge Simulated"/>
          <p:cNvSpPr/>
          <p:nvPr/>
        </p:nvSpPr>
        <p:spPr>
          <a:xfrm>
            <a:off x="640080" y="2350008"/>
            <a:ext cx="237744" cy="237744"/>
          </a:xfrm>
          <a:prstGeom prst="roundRect">
            <a:avLst>
              <a:gd name="adj" fmla="val 19231"/>
            </a:avLst>
          </a:prstGeom>
          <a:solidFill>
            <a:srgbClr val="6250D6"/>
          </a:solidFill>
          <a:ln w="12700">
            <a:solidFill>
              <a:srgbClr val="6250D6"/>
            </a:solidFill>
            <a:prstDash val="solid"/>
          </a:ln>
        </p:spPr>
      </p:sp>
      <p:sp>
        <p:nvSpPr>
          <p:cNvPr id="10" name="Text 8"/>
          <p:cNvSpPr txBox="1"/>
          <p:nvPr/>
        </p:nvSpPr>
        <p:spPr>
          <a:xfrm>
            <a:off x="640080" y="2350008"/>
            <a:ext cx="237744" cy="237744"/>
          </a:xfrm>
          <a:prstGeom prst="rect">
            <a:avLst/>
          </a:prstGeom>
          <a:noFill/>
          <a:ln/>
        </p:spPr>
        <p:txBody>
          <a:bodyPr wrap="square" lIns="0" tIns="0" rIns="0" bIns="0" rtlCol="0" anchor="ctr"/>
          <a:lstStyle/>
          <a:p>
            <a:pPr algn="ctr" indent="0" marL="0">
              <a:buNone/>
            </a:pPr>
            <a:r>
              <a:rPr lang="en-US" sz="1000" b="1" dirty="0">
                <a:solidFill>
                  <a:srgbClr val="FFFFFF"/>
                </a:solidFill>
              </a:rPr>
              <a:t>S</a:t>
            </a:r>
            <a:endParaRPr lang="en-US" sz="1000" dirty="0"/>
          </a:p>
        </p:txBody>
      </p:sp>
      <p:sp>
        <p:nvSpPr>
          <p:cNvPr id="11" name="Text 9"/>
          <p:cNvSpPr txBox="1"/>
          <p:nvPr/>
        </p:nvSpPr>
        <p:spPr>
          <a:xfrm>
            <a:off x="960120" y="2240280"/>
            <a:ext cx="5120640" cy="502920"/>
          </a:xfrm>
          <a:prstGeom prst="rect">
            <a:avLst/>
          </a:prstGeom>
          <a:noFill/>
          <a:ln/>
        </p:spPr>
        <p:txBody>
          <a:bodyPr wrap="square" lIns="0" tIns="0" rIns="0" bIns="0" rtlCol="0" anchor="t"/>
          <a:lstStyle/>
          <a:p>
            <a:pPr indent="0" marL="0">
              <a:buNone/>
            </a:pPr>
            <a:r>
              <a:rPr lang="en-US" sz="1150" dirty="0">
                <a:solidFill>
                  <a:srgbClr val="52514E"/>
                </a:solidFill>
              </a:rPr>
              <a:t>Prime members left ₹1.60M of cashback on the table in FY26. No incentive cost; pays back from the first rupee moved on 1% baskets in every scenario.</a:t>
            </a:r>
            <a:endParaRPr lang="en-US" sz="1150" dirty="0"/>
          </a:p>
        </p:txBody>
      </p:sp>
      <p:sp>
        <p:nvSpPr>
          <p:cNvPr id="12" name="Shape 10"/>
          <p:cNvSpPr/>
          <p:nvPr/>
        </p:nvSpPr>
        <p:spPr>
          <a:xfrm>
            <a:off x="457200" y="2953512"/>
            <a:ext cx="5806440" cy="1481328"/>
          </a:xfrm>
          <a:prstGeom prst="roundRect">
            <a:avLst>
              <a:gd name="adj" fmla="val 4938"/>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13" name="Text 11"/>
          <p:cNvSpPr txBox="1"/>
          <p:nvPr/>
        </p:nvSpPr>
        <p:spPr>
          <a:xfrm>
            <a:off x="640080" y="3063240"/>
            <a:ext cx="4023360" cy="320040"/>
          </a:xfrm>
          <a:prstGeom prst="rect">
            <a:avLst/>
          </a:prstGeom>
          <a:noFill/>
          <a:ln/>
        </p:spPr>
        <p:txBody>
          <a:bodyPr wrap="square" lIns="0" tIns="0" rIns="0" bIns="0" rtlCol="0" anchor="t"/>
          <a:lstStyle/>
          <a:p>
            <a:pPr indent="0" marL="0">
              <a:buNone/>
            </a:pPr>
            <a:r>
              <a:rPr lang="en-US" sz="1500" b="1" dirty="0">
                <a:solidFill>
                  <a:srgbClr val="0F2747"/>
                </a:solidFill>
              </a:rPr>
              <a:t>O1  Instant cashback at the till</a:t>
            </a:r>
            <a:endParaRPr lang="en-US" sz="1500" dirty="0"/>
          </a:p>
        </p:txBody>
      </p:sp>
      <p:sp>
        <p:nvSpPr>
          <p:cNvPr id="14" name="badge Hypothesis"/>
          <p:cNvSpPr/>
          <p:nvPr/>
        </p:nvSpPr>
        <p:spPr>
          <a:xfrm>
            <a:off x="4617720" y="3090672"/>
            <a:ext cx="237744" cy="237744"/>
          </a:xfrm>
          <a:prstGeom prst="roundRect">
            <a:avLst>
              <a:gd name="adj" fmla="val 19231"/>
            </a:avLst>
          </a:prstGeom>
          <a:solidFill>
            <a:srgbClr val="E34948"/>
          </a:solidFill>
          <a:ln w="12700">
            <a:solidFill>
              <a:srgbClr val="E34948"/>
            </a:solidFill>
            <a:prstDash val="solid"/>
          </a:ln>
        </p:spPr>
      </p:sp>
      <p:sp>
        <p:nvSpPr>
          <p:cNvPr id="15" name="Text 13"/>
          <p:cNvSpPr txBox="1"/>
          <p:nvPr/>
        </p:nvSpPr>
        <p:spPr>
          <a:xfrm>
            <a:off x="4617720" y="3090672"/>
            <a:ext cx="237744" cy="237744"/>
          </a:xfrm>
          <a:prstGeom prst="rect">
            <a:avLst/>
          </a:prstGeom>
          <a:noFill/>
          <a:ln/>
        </p:spPr>
        <p:txBody>
          <a:bodyPr wrap="square" lIns="0" tIns="0" rIns="0" bIns="0" rtlCol="0" anchor="ctr"/>
          <a:lstStyle/>
          <a:p>
            <a:pPr algn="ctr" indent="0" marL="0">
              <a:buNone/>
            </a:pPr>
            <a:r>
              <a:rPr lang="en-US" sz="1000" b="1" dirty="0">
                <a:solidFill>
                  <a:srgbClr val="FFFFFF"/>
                </a:solidFill>
              </a:rPr>
              <a:t>H</a:t>
            </a:r>
            <a:endParaRPr lang="en-US" sz="1000" dirty="0"/>
          </a:p>
        </p:txBody>
      </p:sp>
      <p:sp>
        <p:nvSpPr>
          <p:cNvPr id="16" name="Text 14"/>
          <p:cNvSpPr txBox="1"/>
          <p:nvPr/>
        </p:nvSpPr>
        <p:spPr>
          <a:xfrm>
            <a:off x="4919472" y="3081528"/>
            <a:ext cx="1280160" cy="274320"/>
          </a:xfrm>
          <a:prstGeom prst="rect">
            <a:avLst/>
          </a:prstGeom>
          <a:noFill/>
          <a:ln/>
        </p:spPr>
        <p:txBody>
          <a:bodyPr wrap="square" lIns="0" tIns="0" rIns="0" bIns="0" rtlCol="0" anchor="t"/>
          <a:lstStyle/>
          <a:p>
            <a:pPr indent="0" marL="0">
              <a:buNone/>
            </a:pPr>
            <a:r>
              <a:rPr lang="en-US" sz="1150" dirty="0">
                <a:solidFill>
                  <a:srgbClr val="52514E"/>
                </a:solidFill>
              </a:rPr>
              <a:t>Is it immediacy?</a:t>
            </a:r>
            <a:endParaRPr lang="en-US" sz="1150" dirty="0"/>
          </a:p>
        </p:txBody>
      </p:sp>
      <p:sp>
        <p:nvSpPr>
          <p:cNvPr id="17" name="Text 15"/>
          <p:cNvSpPr txBox="1"/>
          <p:nvPr/>
        </p:nvSpPr>
        <p:spPr>
          <a:xfrm>
            <a:off x="640080" y="3410712"/>
            <a:ext cx="5440680" cy="411480"/>
          </a:xfrm>
          <a:prstGeom prst="rect">
            <a:avLst/>
          </a:prstGeom>
          <a:noFill/>
          <a:ln/>
        </p:spPr>
        <p:txBody>
          <a:bodyPr wrap="square" lIns="0" tIns="0" rIns="0" bIns="0" rtlCol="0" anchor="t"/>
          <a:lstStyle/>
          <a:p>
            <a:pPr indent="0" marL="0">
              <a:buNone/>
            </a:pPr>
            <a:r>
              <a:rPr lang="en-US" sz="1200" dirty="0">
                <a:solidFill>
                  <a:srgbClr val="0B0B0B"/>
                </a:solidFill>
              </a:rPr>
              <a:t>The same reward, credited at checkout instead of on next month's statement.</a:t>
            </a:r>
            <a:endParaRPr lang="en-US" sz="1200" dirty="0"/>
          </a:p>
        </p:txBody>
      </p:sp>
      <p:sp>
        <p:nvSpPr>
          <p:cNvPr id="18" name="badge Assumed"/>
          <p:cNvSpPr/>
          <p:nvPr/>
        </p:nvSpPr>
        <p:spPr>
          <a:xfrm>
            <a:off x="640080" y="3977640"/>
            <a:ext cx="237744" cy="237744"/>
          </a:xfrm>
          <a:prstGeom prst="roundRect">
            <a:avLst>
              <a:gd name="adj" fmla="val 19231"/>
            </a:avLst>
          </a:prstGeom>
          <a:solidFill>
            <a:srgbClr val="898781"/>
          </a:solidFill>
          <a:ln w="12700">
            <a:solidFill>
              <a:srgbClr val="898781"/>
            </a:solidFill>
            <a:prstDash val="solid"/>
          </a:ln>
        </p:spPr>
      </p:sp>
      <p:sp>
        <p:nvSpPr>
          <p:cNvPr id="19" name="Text 17"/>
          <p:cNvSpPr txBox="1"/>
          <p:nvPr/>
        </p:nvSpPr>
        <p:spPr>
          <a:xfrm>
            <a:off x="640080" y="3977640"/>
            <a:ext cx="237744" cy="237744"/>
          </a:xfrm>
          <a:prstGeom prst="rect">
            <a:avLst/>
          </a:prstGeom>
          <a:noFill/>
          <a:ln/>
        </p:spPr>
        <p:txBody>
          <a:bodyPr wrap="square" lIns="0" tIns="0" rIns="0" bIns="0" rtlCol="0" anchor="ctr"/>
          <a:lstStyle/>
          <a:p>
            <a:pPr algn="ctr" indent="0" marL="0">
              <a:buNone/>
            </a:pPr>
            <a:r>
              <a:rPr lang="en-US" sz="1000" b="1" dirty="0">
                <a:solidFill>
                  <a:srgbClr val="FFFFFF"/>
                </a:solidFill>
              </a:rPr>
              <a:t>A</a:t>
            </a:r>
            <a:endParaRPr lang="en-US" sz="1000" dirty="0"/>
          </a:p>
        </p:txBody>
      </p:sp>
      <p:sp>
        <p:nvSpPr>
          <p:cNvPr id="20" name="Text 18"/>
          <p:cNvSpPr txBox="1"/>
          <p:nvPr/>
        </p:nvSpPr>
        <p:spPr>
          <a:xfrm>
            <a:off x="960120" y="3867912"/>
            <a:ext cx="5120640" cy="502920"/>
          </a:xfrm>
          <a:prstGeom prst="rect">
            <a:avLst/>
          </a:prstGeom>
          <a:noFill/>
          <a:ln/>
        </p:spPr>
        <p:txBody>
          <a:bodyPr wrap="square" lIns="0" tIns="0" rIns="0" bIns="0" rtlCol="0" anchor="t"/>
          <a:lstStyle/>
          <a:p>
            <a:pPr indent="0" marL="0">
              <a:buNone/>
            </a:pPr>
            <a:r>
              <a:rPr lang="en-US" sz="1150" dirty="0">
                <a:solidFill>
                  <a:srgbClr val="52514E"/>
                </a:solidFill>
              </a:rPr>
              <a:t>Goes after Cash/UPI's 47% of the loss; costs only a month of funding on the reward.</a:t>
            </a:r>
            <a:endParaRPr lang="en-US" sz="1150" dirty="0"/>
          </a:p>
        </p:txBody>
      </p:sp>
      <p:sp>
        <p:nvSpPr>
          <p:cNvPr id="21" name="Shape 19"/>
          <p:cNvSpPr/>
          <p:nvPr/>
        </p:nvSpPr>
        <p:spPr>
          <a:xfrm>
            <a:off x="457200" y="4581144"/>
            <a:ext cx="5806440" cy="1481328"/>
          </a:xfrm>
          <a:prstGeom prst="roundRect">
            <a:avLst>
              <a:gd name="adj" fmla="val 4938"/>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22" name="Text 20"/>
          <p:cNvSpPr txBox="1"/>
          <p:nvPr/>
        </p:nvSpPr>
        <p:spPr>
          <a:xfrm>
            <a:off x="640080" y="4690872"/>
            <a:ext cx="4023360" cy="320040"/>
          </a:xfrm>
          <a:prstGeom prst="rect">
            <a:avLst/>
          </a:prstGeom>
          <a:noFill/>
          <a:ln/>
        </p:spPr>
        <p:txBody>
          <a:bodyPr wrap="square" lIns="0" tIns="0" rIns="0" bIns="0" rtlCol="0" anchor="t"/>
          <a:lstStyle/>
          <a:p>
            <a:pPr indent="0" marL="0">
              <a:buNone/>
            </a:pPr>
            <a:r>
              <a:rPr lang="en-US" sz="1500" b="1" dirty="0">
                <a:solidFill>
                  <a:srgbClr val="0F2747"/>
                </a:solidFill>
              </a:rPr>
              <a:t>O2  HSIC card on UPI</a:t>
            </a:r>
            <a:endParaRPr lang="en-US" sz="1500" dirty="0"/>
          </a:p>
        </p:txBody>
      </p:sp>
      <p:sp>
        <p:nvSpPr>
          <p:cNvPr id="23" name="Text 21"/>
          <p:cNvSpPr txBox="1"/>
          <p:nvPr/>
        </p:nvSpPr>
        <p:spPr>
          <a:xfrm>
            <a:off x="640080" y="5038344"/>
            <a:ext cx="5440680" cy="411480"/>
          </a:xfrm>
          <a:prstGeom prst="rect">
            <a:avLst/>
          </a:prstGeom>
          <a:noFill/>
          <a:ln/>
        </p:spPr>
        <p:txBody>
          <a:bodyPr wrap="square" lIns="0" tIns="0" rIns="0" bIns="0" rtlCol="0" anchor="t"/>
          <a:lstStyle/>
          <a:p>
            <a:pPr indent="0" marL="0">
              <a:buNone/>
            </a:pPr>
            <a:r>
              <a:rPr lang="en-US" sz="1200" dirty="0">
                <a:solidFill>
                  <a:srgbClr val="0B0B0B"/>
                </a:solidFill>
              </a:rPr>
              <a:t>Link the credit card to UPI, where the spend went.</a:t>
            </a:r>
            <a:endParaRPr lang="en-US" sz="1200" dirty="0"/>
          </a:p>
        </p:txBody>
      </p:sp>
      <p:sp>
        <p:nvSpPr>
          <p:cNvPr id="24" name="badge Simulated"/>
          <p:cNvSpPr/>
          <p:nvPr/>
        </p:nvSpPr>
        <p:spPr>
          <a:xfrm>
            <a:off x="640080" y="5605272"/>
            <a:ext cx="237744" cy="237744"/>
          </a:xfrm>
          <a:prstGeom prst="roundRect">
            <a:avLst>
              <a:gd name="adj" fmla="val 19231"/>
            </a:avLst>
          </a:prstGeom>
          <a:solidFill>
            <a:srgbClr val="6250D6"/>
          </a:solidFill>
          <a:ln w="12700">
            <a:solidFill>
              <a:srgbClr val="6250D6"/>
            </a:solidFill>
            <a:prstDash val="solid"/>
          </a:ln>
        </p:spPr>
      </p:sp>
      <p:sp>
        <p:nvSpPr>
          <p:cNvPr id="25" name="Text 23"/>
          <p:cNvSpPr txBox="1"/>
          <p:nvPr/>
        </p:nvSpPr>
        <p:spPr>
          <a:xfrm>
            <a:off x="640080" y="5605272"/>
            <a:ext cx="237744" cy="237744"/>
          </a:xfrm>
          <a:prstGeom prst="rect">
            <a:avLst/>
          </a:prstGeom>
          <a:noFill/>
          <a:ln/>
        </p:spPr>
        <p:txBody>
          <a:bodyPr wrap="square" lIns="0" tIns="0" rIns="0" bIns="0" rtlCol="0" anchor="ctr"/>
          <a:lstStyle/>
          <a:p>
            <a:pPr algn="ctr" indent="0" marL="0">
              <a:buNone/>
            </a:pPr>
            <a:r>
              <a:rPr lang="en-US" sz="1000" b="1" dirty="0">
                <a:solidFill>
                  <a:srgbClr val="FFFFFF"/>
                </a:solidFill>
              </a:rPr>
              <a:t>S</a:t>
            </a:r>
            <a:endParaRPr lang="en-US" sz="1000" dirty="0"/>
          </a:p>
        </p:txBody>
      </p:sp>
      <p:sp>
        <p:nvSpPr>
          <p:cNvPr id="26" name="Text 24"/>
          <p:cNvSpPr txBox="1"/>
          <p:nvPr/>
        </p:nvSpPr>
        <p:spPr>
          <a:xfrm>
            <a:off x="960120" y="5495544"/>
            <a:ext cx="5120640" cy="502920"/>
          </a:xfrm>
          <a:prstGeom prst="rect">
            <a:avLst/>
          </a:prstGeom>
          <a:noFill/>
          <a:ln/>
        </p:spPr>
        <p:txBody>
          <a:bodyPr wrap="square" lIns="0" tIns="0" rIns="0" bIns="0" rtlCol="0" anchor="t"/>
          <a:lstStyle/>
          <a:p>
            <a:pPr indent="0" marL="0">
              <a:buNone/>
            </a:pPr>
            <a:r>
              <a:rPr lang="en-US" sz="1150" dirty="0">
                <a:solidFill>
                  <a:srgbClr val="52514E"/>
                </a:solidFill>
              </a:rPr>
              <a:t>Cardholders' Cash/UPI spend in FY26: ₹82.8M. Each 1% of it moved is worth ₹17k a year (base).</a:t>
            </a:r>
            <a:endParaRPr lang="en-US" sz="1150" dirty="0"/>
          </a:p>
        </p:txBody>
      </p:sp>
      <p:sp>
        <p:nvSpPr>
          <p:cNvPr id="27" name="Text 25"/>
          <p:cNvSpPr txBox="1"/>
          <p:nvPr/>
        </p:nvSpPr>
        <p:spPr>
          <a:xfrm>
            <a:off x="6537960" y="1325880"/>
            <a:ext cx="5193792" cy="502920"/>
          </a:xfrm>
          <a:prstGeom prst="rect">
            <a:avLst/>
          </a:prstGeom>
          <a:noFill/>
          <a:ln/>
        </p:spPr>
        <p:txBody>
          <a:bodyPr wrap="square" lIns="0" tIns="0" rIns="0" bIns="0" rtlCol="0" anchor="t"/>
          <a:lstStyle/>
          <a:p>
            <a:pPr indent="0" marL="0">
              <a:buNone/>
            </a:pPr>
            <a:r>
              <a:rPr lang="en-US" sz="1300" b="1" dirty="0">
                <a:solidFill>
                  <a:srgbClr val="0F2747"/>
                </a:solidFill>
              </a:rPr>
              <a:t>Paid and targeted offers: share of eligible spend that must move to pay back</a:t>
            </a:r>
            <a:endParaRPr lang="en-US" sz="13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6537960" y="1874520"/>
          <a:ext cx="5193792" cy="914400"/>
        </p:xfrm>
        <a:graphic>
          <a:graphicData uri="http://schemas.openxmlformats.org/drawingml/2006/table">
            <a:tbl>
              <a:tblPr/>
              <a:tblGrid>
                <a:gridCol w="1874520"/>
                <a:gridCol w="1508760"/>
                <a:gridCol w="914400"/>
                <a:gridCol w="896112"/>
              </a:tblGrid>
              <a:tr h="457200">
                <a:tc>
                  <a:txBody>
                    <a:bodyPr/>
                    <a:lstStyle/>
                    <a:p>
                      <a:pPr indent="0" marL="0">
                        <a:buNone/>
                      </a:pPr>
                      <a:r>
                        <a:rPr lang="en-US" sz="1100" b="1" dirty="0">
                          <a:solidFill>
                            <a:srgbClr val="FFFFFF"/>
                          </a:solidFill>
                        </a:rPr>
                        <a:t>Offer</a:t>
                      </a:r>
                      <a:endParaRPr lang="en-US" sz="1100" dirty="0"/>
                    </a:p>
                  </a:txBody>
                  <a:tcPr marL="45720" marR="45720" marT="45720" marB="45720" anchor="ctr">
                    <a:lnL w="6350" cap="flat" cmpd="sng" algn="ctr">
                      <a:solidFill>
                        <a:srgbClr val="D9DDE3"/>
                      </a:solidFill>
                      <a:prstDash val="solid"/>
                      <a:round/>
                      <a:headEnd type="none" w="med" len="med"/>
                      <a:tailEnd type="none" w="med" len="med"/>
                    </a:lnL>
                    <a:lnR w="6350" cap="flat" cmpd="sng" algn="ctr">
                      <a:solidFill>
                        <a:srgbClr val="D9DDE3"/>
                      </a:solidFill>
                      <a:prstDash val="solid"/>
                      <a:round/>
                      <a:headEnd type="none" w="med" len="med"/>
                      <a:tailEnd type="none" w="med" len="med"/>
                    </a:lnR>
                    <a:lnT w="6350" cap="flat" cmpd="sng" algn="ctr">
                      <a:solidFill>
                        <a:srgbClr val="D9DDE3"/>
                      </a:solidFill>
                      <a:prstDash val="solid"/>
                      <a:round/>
                      <a:headEnd type="none" w="med" len="med"/>
                      <a:tailEnd type="none" w="med" len="med"/>
                    </a:lnT>
                    <a:lnB w="6350" cap="flat" cmpd="sng" algn="ctr">
                      <a:solidFill>
                        <a:srgbClr val="D9DDE3"/>
                      </a:solidFill>
                      <a:prstDash val="solid"/>
                      <a:round/>
                      <a:headEnd type="none" w="med" len="med"/>
                      <a:tailEnd type="none" w="med" len="med"/>
                    </a:lnB>
                    <a:solidFill>
                      <a:srgbClr val="0F2747"/>
                    </a:solidFill>
                  </a:tcPr>
                </a:tc>
                <a:tc>
                  <a:txBody>
                    <a:bodyPr/>
                    <a:lstStyle/>
                    <a:p>
                      <a:pPr indent="0" marL="0">
                        <a:buNone/>
                      </a:pPr>
                      <a:r>
                        <a:rPr lang="en-US" sz="1100" b="1" dirty="0">
                          <a:solidFill>
                            <a:srgbClr val="FFFFFF"/>
                          </a:solidFill>
                        </a:rPr>
                        <a:t>Who</a:t>
                      </a:r>
                      <a:endParaRPr lang="en-US" sz="1100" dirty="0"/>
                    </a:p>
                  </a:txBody>
                  <a:tcPr marL="45720" marR="45720" marT="45720" marB="45720" anchor="ctr">
                    <a:lnL w="6350" cap="flat" cmpd="sng" algn="ctr">
                      <a:solidFill>
                        <a:srgbClr val="D9DDE3"/>
                      </a:solidFill>
                      <a:prstDash val="solid"/>
                      <a:round/>
                      <a:headEnd type="none" w="med" len="med"/>
                      <a:tailEnd type="none" w="med" len="med"/>
                    </a:lnL>
                    <a:lnR w="6350" cap="flat" cmpd="sng" algn="ctr">
                      <a:solidFill>
                        <a:srgbClr val="D9DDE3"/>
                      </a:solidFill>
                      <a:prstDash val="solid"/>
                      <a:round/>
                      <a:headEnd type="none" w="med" len="med"/>
                      <a:tailEnd type="none" w="med" len="med"/>
                    </a:lnR>
                    <a:lnT w="6350" cap="flat" cmpd="sng" algn="ctr">
                      <a:solidFill>
                        <a:srgbClr val="D9DDE3"/>
                      </a:solidFill>
                      <a:prstDash val="solid"/>
                      <a:round/>
                      <a:headEnd type="none" w="med" len="med"/>
                      <a:tailEnd type="none" w="med" len="med"/>
                    </a:lnT>
                    <a:lnB w="6350" cap="flat" cmpd="sng" algn="ctr">
                      <a:solidFill>
                        <a:srgbClr val="D9DDE3"/>
                      </a:solidFill>
                      <a:prstDash val="solid"/>
                      <a:round/>
                      <a:headEnd type="none" w="med" len="med"/>
                      <a:tailEnd type="none" w="med" len="med"/>
                    </a:lnB>
                    <a:solidFill>
                      <a:srgbClr val="0F2747"/>
                    </a:solidFill>
                  </a:tcPr>
                </a:tc>
                <a:tc>
                  <a:txBody>
                    <a:bodyPr/>
                    <a:lstStyle/>
                    <a:p>
                      <a:pPr indent="0" marL="0">
                        <a:buNone/>
                      </a:pPr>
                      <a:r>
                        <a:rPr lang="en-US" sz="1100" b="1" dirty="0">
                          <a:solidFill>
                            <a:srgbClr val="FFFFFF"/>
                          </a:solidFill>
                        </a:rPr>
                        <a:t>Base</a:t>
                      </a:r>
                      <a:endParaRPr lang="en-US" sz="1100" dirty="0"/>
                    </a:p>
                  </a:txBody>
                  <a:tcPr marL="45720" marR="45720" marT="45720" marB="45720" anchor="ctr">
                    <a:lnL w="6350" cap="flat" cmpd="sng" algn="ctr">
                      <a:solidFill>
                        <a:srgbClr val="D9DDE3"/>
                      </a:solidFill>
                      <a:prstDash val="solid"/>
                      <a:round/>
                      <a:headEnd type="none" w="med" len="med"/>
                      <a:tailEnd type="none" w="med" len="med"/>
                    </a:lnL>
                    <a:lnR w="6350" cap="flat" cmpd="sng" algn="ctr">
                      <a:solidFill>
                        <a:srgbClr val="D9DDE3"/>
                      </a:solidFill>
                      <a:prstDash val="solid"/>
                      <a:round/>
                      <a:headEnd type="none" w="med" len="med"/>
                      <a:tailEnd type="none" w="med" len="med"/>
                    </a:lnR>
                    <a:lnT w="6350" cap="flat" cmpd="sng" algn="ctr">
                      <a:solidFill>
                        <a:srgbClr val="D9DDE3"/>
                      </a:solidFill>
                      <a:prstDash val="solid"/>
                      <a:round/>
                      <a:headEnd type="none" w="med" len="med"/>
                      <a:tailEnd type="none" w="med" len="med"/>
                    </a:lnT>
                    <a:lnB w="6350" cap="flat" cmpd="sng" algn="ctr">
                      <a:solidFill>
                        <a:srgbClr val="D9DDE3"/>
                      </a:solidFill>
                      <a:prstDash val="solid"/>
                      <a:round/>
                      <a:headEnd type="none" w="med" len="med"/>
                      <a:tailEnd type="none" w="med" len="med"/>
                    </a:lnB>
                    <a:solidFill>
                      <a:srgbClr val="0F2747"/>
                    </a:solidFill>
                  </a:tcPr>
                </a:tc>
                <a:tc>
                  <a:txBody>
                    <a:bodyPr/>
                    <a:lstStyle/>
                    <a:p>
                      <a:pPr indent="0" marL="0">
                        <a:buNone/>
                      </a:pPr>
                      <a:r>
                        <a:rPr lang="en-US" sz="1100" b="1" dirty="0">
                          <a:solidFill>
                            <a:srgbClr val="FFFFFF"/>
                          </a:solidFill>
                        </a:rPr>
                        <a:t>Conservative</a:t>
                      </a:r>
                      <a:endParaRPr lang="en-US" sz="1100" dirty="0"/>
                    </a:p>
                  </a:txBody>
                  <a:tcPr marL="45720" marR="45720" marT="45720" marB="45720" anchor="ctr">
                    <a:lnL w="6350" cap="flat" cmpd="sng" algn="ctr">
                      <a:solidFill>
                        <a:srgbClr val="D9DDE3"/>
                      </a:solidFill>
                      <a:prstDash val="solid"/>
                      <a:round/>
                      <a:headEnd type="none" w="med" len="med"/>
                      <a:tailEnd type="none" w="med" len="med"/>
                    </a:lnL>
                    <a:lnR w="6350" cap="flat" cmpd="sng" algn="ctr">
                      <a:solidFill>
                        <a:srgbClr val="D9DDE3"/>
                      </a:solidFill>
                      <a:prstDash val="solid"/>
                      <a:round/>
                      <a:headEnd type="none" w="med" len="med"/>
                      <a:tailEnd type="none" w="med" len="med"/>
                    </a:lnR>
                    <a:lnT w="6350" cap="flat" cmpd="sng" algn="ctr">
                      <a:solidFill>
                        <a:srgbClr val="D9DDE3"/>
                      </a:solidFill>
                      <a:prstDash val="solid"/>
                      <a:round/>
                      <a:headEnd type="none" w="med" len="med"/>
                      <a:tailEnd type="none" w="med" len="med"/>
                    </a:lnT>
                    <a:lnB w="6350" cap="flat" cmpd="sng" algn="ctr">
                      <a:solidFill>
                        <a:srgbClr val="D9DDE3"/>
                      </a:solidFill>
                      <a:prstDash val="solid"/>
                      <a:round/>
                      <a:headEnd type="none" w="med" len="med"/>
                      <a:tailEnd type="none" w="med" len="med"/>
                    </a:lnB>
                    <a:solidFill>
                      <a:srgbClr val="0F2747"/>
                    </a:solidFill>
                  </a:tcPr>
                </a:tc>
              </a:tr>
              <a:tr h="457200">
                <a:tc>
                  <a:txBody>
                    <a:bodyPr/>
                    <a:lstStyle/>
                    <a:p>
                      <a:pPr indent="0" marL="0">
                        <a:buNone/>
                      </a:pPr>
                      <a:r>
                        <a:rPr lang="en-US" sz="1100" dirty="0">
                          <a:solidFill>
                            <a:srgbClr val="0B0B0B"/>
                          </a:solidFill>
                        </a:rPr>
                        <a:t>O4 No-cost EMI, ₹3k+ baskets</a:t>
                      </a:r>
                      <a:endParaRPr lang="en-US" sz="1100" dirty="0"/>
                    </a:p>
                  </a:txBody>
                  <a:tcPr marL="45720" marR="45720" marT="45720" marB="45720" anchor="ctr">
                    <a:lnL w="6350" cap="flat" cmpd="sng" algn="ctr">
                      <a:solidFill>
                        <a:srgbClr val="D9DDE3"/>
                      </a:solidFill>
                      <a:prstDash val="solid"/>
                      <a:round/>
                      <a:headEnd type="none" w="med" len="med"/>
                      <a:tailEnd type="none" w="med" len="med"/>
                    </a:lnL>
                    <a:lnR w="6350" cap="flat" cmpd="sng" algn="ctr">
                      <a:solidFill>
                        <a:srgbClr val="D9DDE3"/>
                      </a:solidFill>
                      <a:prstDash val="solid"/>
                      <a:round/>
                      <a:headEnd type="none" w="med" len="med"/>
                      <a:tailEnd type="none" w="med" len="med"/>
                    </a:lnR>
                    <a:lnT w="6350" cap="flat" cmpd="sng" algn="ctr">
                      <a:solidFill>
                        <a:srgbClr val="D9DDE3"/>
                      </a:solidFill>
                      <a:prstDash val="solid"/>
                      <a:round/>
                      <a:headEnd type="none" w="med" len="med"/>
                      <a:tailEnd type="none" w="med" len="med"/>
                    </a:lnT>
                    <a:lnB w="6350" cap="flat" cmpd="sng" algn="ctr">
                      <a:solidFill>
                        <a:srgbClr val="D9DDE3"/>
                      </a:solidFill>
                      <a:prstDash val="solid"/>
                      <a:round/>
                      <a:headEnd type="none" w="med" len="med"/>
                      <a:tailEnd type="none" w="med" len="med"/>
                    </a:lnB>
                    <a:solidFill>
                      <a:srgbClr val="FFFFFF"/>
                    </a:solidFill>
                  </a:tcPr>
                </a:tc>
                <a:tc>
                  <a:txBody>
                    <a:bodyPr/>
                    <a:lstStyle/>
                    <a:p>
                      <a:pPr indent="0" marL="0">
                        <a:buNone/>
                      </a:pPr>
                      <a:r>
                        <a:rPr lang="en-US" sz="1100" dirty="0">
                          <a:solidFill>
                            <a:srgbClr val="0B0B0B"/>
                          </a:solidFill>
                        </a:rPr>
                        <a:t>All big baskets</a:t>
                      </a:r>
                      <a:endParaRPr lang="en-US" sz="1100" dirty="0"/>
                    </a:p>
                  </a:txBody>
                  <a:tcPr marL="45720" marR="45720" marT="45720" marB="45720" anchor="ctr">
                    <a:lnL w="6350" cap="flat" cmpd="sng" algn="ctr">
                      <a:solidFill>
                        <a:srgbClr val="D9DDE3"/>
                      </a:solidFill>
                      <a:prstDash val="solid"/>
                      <a:round/>
                      <a:headEnd type="none" w="med" len="med"/>
                      <a:tailEnd type="none" w="med" len="med"/>
                    </a:lnL>
                    <a:lnR w="6350" cap="flat" cmpd="sng" algn="ctr">
                      <a:solidFill>
                        <a:srgbClr val="D9DDE3"/>
                      </a:solidFill>
                      <a:prstDash val="solid"/>
                      <a:round/>
                      <a:headEnd type="none" w="med" len="med"/>
                      <a:tailEnd type="none" w="med" len="med"/>
                    </a:lnR>
                    <a:lnT w="6350" cap="flat" cmpd="sng" algn="ctr">
                      <a:solidFill>
                        <a:srgbClr val="D9DDE3"/>
                      </a:solidFill>
                      <a:prstDash val="solid"/>
                      <a:round/>
                      <a:headEnd type="none" w="med" len="med"/>
                      <a:tailEnd type="none" w="med" len="med"/>
                    </a:lnT>
                    <a:lnB w="6350" cap="flat" cmpd="sng" algn="ctr">
                      <a:solidFill>
                        <a:srgbClr val="D9DDE3"/>
                      </a:solidFill>
                      <a:prstDash val="solid"/>
                      <a:round/>
                      <a:headEnd type="none" w="med" len="med"/>
                      <a:tailEnd type="none" w="med" len="med"/>
                    </a:lnB>
                    <a:solidFill>
                      <a:srgbClr val="FFFFFF"/>
                    </a:solidFill>
                  </a:tcPr>
                </a:tc>
                <a:tc>
                  <a:txBody>
                    <a:bodyPr/>
                    <a:lstStyle/>
                    <a:p>
                      <a:pPr indent="0" marL="0">
                        <a:buNone/>
                      </a:pPr>
                      <a:r>
                        <a:rPr lang="en-US" sz="1100" dirty="0">
                          <a:solidFill>
                            <a:srgbClr val="0B0B0B"/>
                          </a:solidFill>
                        </a:rPr>
                        <a:t>69%</a:t>
                      </a:r>
                      <a:endParaRPr lang="en-US" sz="1100" dirty="0"/>
                    </a:p>
                  </a:txBody>
                  <a:tcPr marL="45720" marR="45720" marT="45720" marB="45720" anchor="ctr">
                    <a:lnL w="6350" cap="flat" cmpd="sng" algn="ctr">
                      <a:solidFill>
                        <a:srgbClr val="D9DDE3"/>
                      </a:solidFill>
                      <a:prstDash val="solid"/>
                      <a:round/>
                      <a:headEnd type="none" w="med" len="med"/>
                      <a:tailEnd type="none" w="med" len="med"/>
                    </a:lnL>
                    <a:lnR w="6350" cap="flat" cmpd="sng" algn="ctr">
                      <a:solidFill>
                        <a:srgbClr val="D9DDE3"/>
                      </a:solidFill>
                      <a:prstDash val="solid"/>
                      <a:round/>
                      <a:headEnd type="none" w="med" len="med"/>
                      <a:tailEnd type="none" w="med" len="med"/>
                    </a:lnR>
                    <a:lnT w="6350" cap="flat" cmpd="sng" algn="ctr">
                      <a:solidFill>
                        <a:srgbClr val="D9DDE3"/>
                      </a:solidFill>
                      <a:prstDash val="solid"/>
                      <a:round/>
                      <a:headEnd type="none" w="med" len="med"/>
                      <a:tailEnd type="none" w="med" len="med"/>
                    </a:lnT>
                    <a:lnB w="6350" cap="flat" cmpd="sng" algn="ctr">
                      <a:solidFill>
                        <a:srgbClr val="D9DDE3"/>
                      </a:solidFill>
                      <a:prstDash val="solid"/>
                      <a:round/>
                      <a:headEnd type="none" w="med" len="med"/>
                      <a:tailEnd type="none" w="med" len="med"/>
                    </a:lnB>
                    <a:solidFill>
                      <a:srgbClr val="FFFFFF"/>
                    </a:solidFill>
                  </a:tcPr>
                </a:tc>
                <a:tc>
                  <a:txBody>
                    <a:bodyPr/>
                    <a:lstStyle/>
                    <a:p>
                      <a:pPr indent="0" marL="0">
                        <a:buNone/>
                      </a:pPr>
                      <a:r>
                        <a:rPr lang="en-US" sz="1100" dirty="0">
                          <a:solidFill>
                            <a:srgbClr val="0B0B0B"/>
                          </a:solidFill>
                        </a:rPr>
                        <a:t>never</a:t>
                      </a:r>
                      <a:endParaRPr lang="en-US" sz="1100" dirty="0"/>
                    </a:p>
                  </a:txBody>
                  <a:tcPr marL="45720" marR="45720" marT="45720" marB="45720" anchor="ctr">
                    <a:lnL w="6350" cap="flat" cmpd="sng" algn="ctr">
                      <a:solidFill>
                        <a:srgbClr val="D9DDE3"/>
                      </a:solidFill>
                      <a:prstDash val="solid"/>
                      <a:round/>
                      <a:headEnd type="none" w="med" len="med"/>
                      <a:tailEnd type="none" w="med" len="med"/>
                    </a:lnL>
                    <a:lnR w="6350" cap="flat" cmpd="sng" algn="ctr">
                      <a:solidFill>
                        <a:srgbClr val="D9DDE3"/>
                      </a:solidFill>
                      <a:prstDash val="solid"/>
                      <a:round/>
                      <a:headEnd type="none" w="med" len="med"/>
                      <a:tailEnd type="none" w="med" len="med"/>
                    </a:lnR>
                    <a:lnT w="6350" cap="flat" cmpd="sng" algn="ctr">
                      <a:solidFill>
                        <a:srgbClr val="D9DDE3"/>
                      </a:solidFill>
                      <a:prstDash val="solid"/>
                      <a:round/>
                      <a:headEnd type="none" w="med" len="med"/>
                      <a:tailEnd type="none" w="med" len="med"/>
                    </a:lnT>
                    <a:lnB w="6350" cap="flat" cmpd="sng" algn="ctr">
                      <a:solidFill>
                        <a:srgbClr val="D9DDE3"/>
                      </a:solidFill>
                      <a:prstDash val="solid"/>
                      <a:round/>
                      <a:headEnd type="none" w="med" len="med"/>
                      <a:tailEnd type="none" w="med" len="med"/>
                    </a:lnB>
                    <a:solidFill>
                      <a:srgbClr val="FFFFFF"/>
                    </a:solidFill>
                  </a:tcPr>
                </a:tc>
              </a:tr>
              <a:tr h="457200">
                <a:tc>
                  <a:txBody>
                    <a:bodyPr/>
                    <a:lstStyle/>
                    <a:p>
                      <a:pPr indent="0" marL="0">
                        <a:buNone/>
                      </a:pPr>
                      <a:r>
                        <a:rPr lang="en-US" sz="1100" dirty="0">
                          <a:solidFill>
                            <a:srgbClr val="0B0B0B"/>
                          </a:solidFill>
                        </a:rPr>
                        <a:t>O6 Win-back: 3% for 90 days</a:t>
                      </a:r>
                      <a:endParaRPr lang="en-US" sz="1100" dirty="0"/>
                    </a:p>
                  </a:txBody>
                  <a:tcPr marL="45720" marR="45720" marT="45720" marB="45720" anchor="ctr">
                    <a:lnL w="6350" cap="flat" cmpd="sng" algn="ctr">
                      <a:solidFill>
                        <a:srgbClr val="D9DDE3"/>
                      </a:solidFill>
                      <a:prstDash val="solid"/>
                      <a:round/>
                      <a:headEnd type="none" w="med" len="med"/>
                      <a:tailEnd type="none" w="med" len="med"/>
                    </a:lnL>
                    <a:lnR w="6350" cap="flat" cmpd="sng" algn="ctr">
                      <a:solidFill>
                        <a:srgbClr val="D9DDE3"/>
                      </a:solidFill>
                      <a:prstDash val="solid"/>
                      <a:round/>
                      <a:headEnd type="none" w="med" len="med"/>
                      <a:tailEnd type="none" w="med" len="med"/>
                    </a:lnR>
                    <a:lnT w="6350" cap="flat" cmpd="sng" algn="ctr">
                      <a:solidFill>
                        <a:srgbClr val="D9DDE3"/>
                      </a:solidFill>
                      <a:prstDash val="solid"/>
                      <a:round/>
                      <a:headEnd type="none" w="med" len="med"/>
                      <a:tailEnd type="none" w="med" len="med"/>
                    </a:lnT>
                    <a:lnB w="6350" cap="flat" cmpd="sng" algn="ctr">
                      <a:solidFill>
                        <a:srgbClr val="D9DDE3"/>
                      </a:solidFill>
                      <a:prstDash val="solid"/>
                      <a:round/>
                      <a:headEnd type="none" w="med" len="med"/>
                      <a:tailEnd type="none" w="med" len="med"/>
                    </a:lnB>
                    <a:solidFill>
                      <a:srgbClr val="FFFFFF"/>
                    </a:solidFill>
                  </a:tcPr>
                </a:tc>
                <a:tc>
                  <a:txBody>
                    <a:bodyPr/>
                    <a:lstStyle/>
                    <a:p>
                      <a:pPr indent="0" marL="0">
                        <a:buNone/>
                      </a:pPr>
                      <a:r>
                        <a:rPr lang="en-US" sz="1100" dirty="0">
                          <a:solidFill>
                            <a:srgbClr val="0B0B0B"/>
                          </a:solidFill>
                        </a:rPr>
                        <a:t>5,903 closed, still shopping</a:t>
                      </a:r>
                      <a:endParaRPr lang="en-US" sz="1100" dirty="0"/>
                    </a:p>
                  </a:txBody>
                  <a:tcPr marL="45720" marR="45720" marT="45720" marB="45720" anchor="ctr">
                    <a:lnL w="6350" cap="flat" cmpd="sng" algn="ctr">
                      <a:solidFill>
                        <a:srgbClr val="D9DDE3"/>
                      </a:solidFill>
                      <a:prstDash val="solid"/>
                      <a:round/>
                      <a:headEnd type="none" w="med" len="med"/>
                      <a:tailEnd type="none" w="med" len="med"/>
                    </a:lnL>
                    <a:lnR w="6350" cap="flat" cmpd="sng" algn="ctr">
                      <a:solidFill>
                        <a:srgbClr val="D9DDE3"/>
                      </a:solidFill>
                      <a:prstDash val="solid"/>
                      <a:round/>
                      <a:headEnd type="none" w="med" len="med"/>
                      <a:tailEnd type="none" w="med" len="med"/>
                    </a:lnR>
                    <a:lnT w="6350" cap="flat" cmpd="sng" algn="ctr">
                      <a:solidFill>
                        <a:srgbClr val="D9DDE3"/>
                      </a:solidFill>
                      <a:prstDash val="solid"/>
                      <a:round/>
                      <a:headEnd type="none" w="med" len="med"/>
                      <a:tailEnd type="none" w="med" len="med"/>
                    </a:lnT>
                    <a:lnB w="6350" cap="flat" cmpd="sng" algn="ctr">
                      <a:solidFill>
                        <a:srgbClr val="D9DDE3"/>
                      </a:solidFill>
                      <a:prstDash val="solid"/>
                      <a:round/>
                      <a:headEnd type="none" w="med" len="med"/>
                      <a:tailEnd type="none" w="med" len="med"/>
                    </a:lnB>
                    <a:solidFill>
                      <a:srgbClr val="FFFFFF"/>
                    </a:solidFill>
                  </a:tcPr>
                </a:tc>
                <a:tc>
                  <a:txBody>
                    <a:bodyPr/>
                    <a:lstStyle/>
                    <a:p>
                      <a:pPr indent="0" marL="0">
                        <a:buNone/>
                      </a:pPr>
                      <a:r>
                        <a:rPr lang="en-US" sz="1100" dirty="0">
                          <a:solidFill>
                            <a:srgbClr val="0B0B0B"/>
                          </a:solidFill>
                        </a:rPr>
                        <a:t>from the first ₹</a:t>
                      </a:r>
                      <a:endParaRPr lang="en-US" sz="1100" dirty="0"/>
                    </a:p>
                  </a:txBody>
                  <a:tcPr marL="45720" marR="45720" marT="45720" marB="45720" anchor="ctr">
                    <a:lnL w="6350" cap="flat" cmpd="sng" algn="ctr">
                      <a:solidFill>
                        <a:srgbClr val="D9DDE3"/>
                      </a:solidFill>
                      <a:prstDash val="solid"/>
                      <a:round/>
                      <a:headEnd type="none" w="med" len="med"/>
                      <a:tailEnd type="none" w="med" len="med"/>
                    </a:lnL>
                    <a:lnR w="6350" cap="flat" cmpd="sng" algn="ctr">
                      <a:solidFill>
                        <a:srgbClr val="D9DDE3"/>
                      </a:solidFill>
                      <a:prstDash val="solid"/>
                      <a:round/>
                      <a:headEnd type="none" w="med" len="med"/>
                      <a:tailEnd type="none" w="med" len="med"/>
                    </a:lnR>
                    <a:lnT w="6350" cap="flat" cmpd="sng" algn="ctr">
                      <a:solidFill>
                        <a:srgbClr val="D9DDE3"/>
                      </a:solidFill>
                      <a:prstDash val="solid"/>
                      <a:round/>
                      <a:headEnd type="none" w="med" len="med"/>
                      <a:tailEnd type="none" w="med" len="med"/>
                    </a:lnT>
                    <a:lnB w="6350" cap="flat" cmpd="sng" algn="ctr">
                      <a:solidFill>
                        <a:srgbClr val="D9DDE3"/>
                      </a:solidFill>
                      <a:prstDash val="solid"/>
                      <a:round/>
                      <a:headEnd type="none" w="med" len="med"/>
                      <a:tailEnd type="none" w="med" len="med"/>
                    </a:lnB>
                    <a:solidFill>
                      <a:srgbClr val="FFFFFF"/>
                    </a:solidFill>
                  </a:tcPr>
                </a:tc>
                <a:tc>
                  <a:txBody>
                    <a:bodyPr/>
                    <a:lstStyle/>
                    <a:p>
                      <a:pPr indent="0" marL="0">
                        <a:buNone/>
                      </a:pPr>
                      <a:r>
                        <a:rPr lang="en-US" sz="1100" dirty="0">
                          <a:solidFill>
                            <a:srgbClr val="0B0B0B"/>
                          </a:solidFill>
                        </a:rPr>
                        <a:t>never</a:t>
                      </a:r>
                      <a:endParaRPr lang="en-US" sz="1100" dirty="0"/>
                    </a:p>
                  </a:txBody>
                  <a:tcPr marL="45720" marR="45720" marT="45720" marB="45720" anchor="ctr">
                    <a:lnL w="6350" cap="flat" cmpd="sng" algn="ctr">
                      <a:solidFill>
                        <a:srgbClr val="D9DDE3"/>
                      </a:solidFill>
                      <a:prstDash val="solid"/>
                      <a:round/>
                      <a:headEnd type="none" w="med" len="med"/>
                      <a:tailEnd type="none" w="med" len="med"/>
                    </a:lnL>
                    <a:lnR w="6350" cap="flat" cmpd="sng" algn="ctr">
                      <a:solidFill>
                        <a:srgbClr val="D9DDE3"/>
                      </a:solidFill>
                      <a:prstDash val="solid"/>
                      <a:round/>
                      <a:headEnd type="none" w="med" len="med"/>
                      <a:tailEnd type="none" w="med" len="med"/>
                    </a:lnR>
                    <a:lnT w="6350" cap="flat" cmpd="sng" algn="ctr">
                      <a:solidFill>
                        <a:srgbClr val="D9DDE3"/>
                      </a:solidFill>
                      <a:prstDash val="solid"/>
                      <a:round/>
                      <a:headEnd type="none" w="med" len="med"/>
                      <a:tailEnd type="none" w="med" len="med"/>
                    </a:lnT>
                    <a:lnB w="6350" cap="flat" cmpd="sng" algn="ctr">
                      <a:solidFill>
                        <a:srgbClr val="D9DDE3"/>
                      </a:solidFill>
                      <a:prstDash val="solid"/>
                      <a:round/>
                      <a:headEnd type="none" w="med" len="med"/>
                      <a:tailEnd type="none" w="med" len="med"/>
                    </a:lnB>
                    <a:solidFill>
                      <a:srgbClr val="FFFFFF"/>
                    </a:solidFill>
                  </a:tcPr>
                </a:tc>
              </a:tr>
              <a:tr h="457200">
                <a:tc>
                  <a:txBody>
                    <a:bodyPr/>
                    <a:lstStyle/>
                    <a:p>
                      <a:pPr indent="0" marL="0">
                        <a:buNone/>
                      </a:pPr>
                      <a:r>
                        <a:rPr lang="en-US" sz="1100" dirty="0">
                          <a:solidFill>
                            <a:srgbClr val="0B0B0B"/>
                          </a:solidFill>
                        </a:rPr>
                        <a:t>O7 Prime trial, young cards</a:t>
                      </a:r>
                      <a:endParaRPr lang="en-US" sz="1100" dirty="0"/>
                    </a:p>
                  </a:txBody>
                  <a:tcPr marL="45720" marR="45720" marT="45720" marB="45720" anchor="ctr">
                    <a:lnL w="6350" cap="flat" cmpd="sng" algn="ctr">
                      <a:solidFill>
                        <a:srgbClr val="D9DDE3"/>
                      </a:solidFill>
                      <a:prstDash val="solid"/>
                      <a:round/>
                      <a:headEnd type="none" w="med" len="med"/>
                      <a:tailEnd type="none" w="med" len="med"/>
                    </a:lnL>
                    <a:lnR w="6350" cap="flat" cmpd="sng" algn="ctr">
                      <a:solidFill>
                        <a:srgbClr val="D9DDE3"/>
                      </a:solidFill>
                      <a:prstDash val="solid"/>
                      <a:round/>
                      <a:headEnd type="none" w="med" len="med"/>
                      <a:tailEnd type="none" w="med" len="med"/>
                    </a:lnR>
                    <a:lnT w="6350" cap="flat" cmpd="sng" algn="ctr">
                      <a:solidFill>
                        <a:srgbClr val="D9DDE3"/>
                      </a:solidFill>
                      <a:prstDash val="solid"/>
                      <a:round/>
                      <a:headEnd type="none" w="med" len="med"/>
                      <a:tailEnd type="none" w="med" len="med"/>
                    </a:lnT>
                    <a:lnB w="6350" cap="flat" cmpd="sng" algn="ctr">
                      <a:solidFill>
                        <a:srgbClr val="D9DDE3"/>
                      </a:solidFill>
                      <a:prstDash val="solid"/>
                      <a:round/>
                      <a:headEnd type="none" w="med" len="med"/>
                      <a:tailEnd type="none" w="med" len="med"/>
                    </a:lnB>
                    <a:solidFill>
                      <a:srgbClr val="FFFFFF"/>
                    </a:solidFill>
                  </a:tcPr>
                </a:tc>
                <a:tc>
                  <a:txBody>
                    <a:bodyPr/>
                    <a:lstStyle/>
                    <a:p>
                      <a:pPr indent="0" marL="0">
                        <a:buNone/>
                      </a:pPr>
                      <a:r>
                        <a:rPr lang="en-US" sz="1100" dirty="0">
                          <a:solidFill>
                            <a:srgbClr val="0B0B0B"/>
                          </a:solidFill>
                        </a:rPr>
                        <a:t>6,313 cards &lt; 1 year</a:t>
                      </a:r>
                      <a:endParaRPr lang="en-US" sz="1100" dirty="0"/>
                    </a:p>
                  </a:txBody>
                  <a:tcPr marL="45720" marR="45720" marT="45720" marB="45720" anchor="ctr">
                    <a:lnL w="6350" cap="flat" cmpd="sng" algn="ctr">
                      <a:solidFill>
                        <a:srgbClr val="D9DDE3"/>
                      </a:solidFill>
                      <a:prstDash val="solid"/>
                      <a:round/>
                      <a:headEnd type="none" w="med" len="med"/>
                      <a:tailEnd type="none" w="med" len="med"/>
                    </a:lnL>
                    <a:lnR w="6350" cap="flat" cmpd="sng" algn="ctr">
                      <a:solidFill>
                        <a:srgbClr val="D9DDE3"/>
                      </a:solidFill>
                      <a:prstDash val="solid"/>
                      <a:round/>
                      <a:headEnd type="none" w="med" len="med"/>
                      <a:tailEnd type="none" w="med" len="med"/>
                    </a:lnR>
                    <a:lnT w="6350" cap="flat" cmpd="sng" algn="ctr">
                      <a:solidFill>
                        <a:srgbClr val="D9DDE3"/>
                      </a:solidFill>
                      <a:prstDash val="solid"/>
                      <a:round/>
                      <a:headEnd type="none" w="med" len="med"/>
                      <a:tailEnd type="none" w="med" len="med"/>
                    </a:lnT>
                    <a:lnB w="6350" cap="flat" cmpd="sng" algn="ctr">
                      <a:solidFill>
                        <a:srgbClr val="D9DDE3"/>
                      </a:solidFill>
                      <a:prstDash val="solid"/>
                      <a:round/>
                      <a:headEnd type="none" w="med" len="med"/>
                      <a:tailEnd type="none" w="med" len="med"/>
                    </a:lnB>
                    <a:solidFill>
                      <a:srgbClr val="FFFFFF"/>
                    </a:solidFill>
                  </a:tcPr>
                </a:tc>
                <a:tc>
                  <a:txBody>
                    <a:bodyPr/>
                    <a:lstStyle/>
                    <a:p>
                      <a:pPr indent="0" marL="0">
                        <a:buNone/>
                      </a:pPr>
                      <a:r>
                        <a:rPr lang="en-US" sz="1100" dirty="0">
                          <a:solidFill>
                            <a:srgbClr val="0B0B0B"/>
                          </a:solidFill>
                        </a:rPr>
                        <a:t>keep 4.0% open</a:t>
                      </a:r>
                      <a:endParaRPr lang="en-US" sz="1100" dirty="0"/>
                    </a:p>
                  </a:txBody>
                  <a:tcPr marL="45720" marR="45720" marT="45720" marB="45720" anchor="ctr">
                    <a:lnL w="6350" cap="flat" cmpd="sng" algn="ctr">
                      <a:solidFill>
                        <a:srgbClr val="D9DDE3"/>
                      </a:solidFill>
                      <a:prstDash val="solid"/>
                      <a:round/>
                      <a:headEnd type="none" w="med" len="med"/>
                      <a:tailEnd type="none" w="med" len="med"/>
                    </a:lnL>
                    <a:lnR w="6350" cap="flat" cmpd="sng" algn="ctr">
                      <a:solidFill>
                        <a:srgbClr val="D9DDE3"/>
                      </a:solidFill>
                      <a:prstDash val="solid"/>
                      <a:round/>
                      <a:headEnd type="none" w="med" len="med"/>
                      <a:tailEnd type="none" w="med" len="med"/>
                    </a:lnR>
                    <a:lnT w="6350" cap="flat" cmpd="sng" algn="ctr">
                      <a:solidFill>
                        <a:srgbClr val="D9DDE3"/>
                      </a:solidFill>
                      <a:prstDash val="solid"/>
                      <a:round/>
                      <a:headEnd type="none" w="med" len="med"/>
                      <a:tailEnd type="none" w="med" len="med"/>
                    </a:lnT>
                    <a:lnB w="6350" cap="flat" cmpd="sng" algn="ctr">
                      <a:solidFill>
                        <a:srgbClr val="D9DDE3"/>
                      </a:solidFill>
                      <a:prstDash val="solid"/>
                      <a:round/>
                      <a:headEnd type="none" w="med" len="med"/>
                      <a:tailEnd type="none" w="med" len="med"/>
                    </a:lnB>
                    <a:solidFill>
                      <a:srgbClr val="FFFFFF"/>
                    </a:solidFill>
                  </a:tcPr>
                </a:tc>
                <a:tc>
                  <a:txBody>
                    <a:bodyPr/>
                    <a:lstStyle/>
                    <a:p>
                      <a:pPr indent="0" marL="0">
                        <a:buNone/>
                      </a:pPr>
                      <a:r>
                        <a:rPr lang="en-US" sz="1100" dirty="0">
                          <a:solidFill>
                            <a:srgbClr val="0B0B0B"/>
                          </a:solidFill>
                        </a:rPr>
                        <a:t>never</a:t>
                      </a:r>
                      <a:endParaRPr lang="en-US" sz="1100" dirty="0"/>
                    </a:p>
                  </a:txBody>
                  <a:tcPr marL="45720" marR="45720" marT="45720" marB="45720" anchor="ctr">
                    <a:lnL w="6350" cap="flat" cmpd="sng" algn="ctr">
                      <a:solidFill>
                        <a:srgbClr val="D9DDE3"/>
                      </a:solidFill>
                      <a:prstDash val="solid"/>
                      <a:round/>
                      <a:headEnd type="none" w="med" len="med"/>
                      <a:tailEnd type="none" w="med" len="med"/>
                    </a:lnL>
                    <a:lnR w="6350" cap="flat" cmpd="sng" algn="ctr">
                      <a:solidFill>
                        <a:srgbClr val="D9DDE3"/>
                      </a:solidFill>
                      <a:prstDash val="solid"/>
                      <a:round/>
                      <a:headEnd type="none" w="med" len="med"/>
                      <a:tailEnd type="none" w="med" len="med"/>
                    </a:lnR>
                    <a:lnT w="6350" cap="flat" cmpd="sng" algn="ctr">
                      <a:solidFill>
                        <a:srgbClr val="D9DDE3"/>
                      </a:solidFill>
                      <a:prstDash val="solid"/>
                      <a:round/>
                      <a:headEnd type="none" w="med" len="med"/>
                      <a:tailEnd type="none" w="med" len="med"/>
                    </a:lnT>
                    <a:lnB w="6350" cap="flat" cmpd="sng" algn="ctr">
                      <a:solidFill>
                        <a:srgbClr val="D9DDE3"/>
                      </a:solidFill>
                      <a:prstDash val="solid"/>
                      <a:round/>
                      <a:headEnd type="none" w="med" len="med"/>
                      <a:tailEnd type="none" w="med" len="med"/>
                    </a:lnB>
                    <a:solidFill>
                      <a:srgbClr val="FFFFFF"/>
                    </a:solidFill>
                  </a:tcPr>
                </a:tc>
              </a:tr>
              <a:tr h="457200">
                <a:tc>
                  <a:txBody>
                    <a:bodyPr/>
                    <a:lstStyle/>
                    <a:p>
                      <a:pPr indent="0" marL="0">
                        <a:buNone/>
                      </a:pPr>
                      <a:r>
                        <a:rPr lang="en-US" sz="1100" dirty="0">
                          <a:solidFill>
                            <a:srgbClr val="0B0B0B"/>
                          </a:solidFill>
                        </a:rPr>
                        <a:t>O8 Threshold bonus</a:t>
                      </a:r>
                      <a:endParaRPr lang="en-US" sz="1100" dirty="0"/>
                    </a:p>
                  </a:txBody>
                  <a:tcPr marL="45720" marR="45720" marT="45720" marB="45720" anchor="ctr">
                    <a:lnL w="6350" cap="flat" cmpd="sng" algn="ctr">
                      <a:solidFill>
                        <a:srgbClr val="D9DDE3"/>
                      </a:solidFill>
                      <a:prstDash val="solid"/>
                      <a:round/>
                      <a:headEnd type="none" w="med" len="med"/>
                      <a:tailEnd type="none" w="med" len="med"/>
                    </a:lnL>
                    <a:lnR w="6350" cap="flat" cmpd="sng" algn="ctr">
                      <a:solidFill>
                        <a:srgbClr val="D9DDE3"/>
                      </a:solidFill>
                      <a:prstDash val="solid"/>
                      <a:round/>
                      <a:headEnd type="none" w="med" len="med"/>
                      <a:tailEnd type="none" w="med" len="med"/>
                    </a:lnR>
                    <a:lnT w="6350" cap="flat" cmpd="sng" algn="ctr">
                      <a:solidFill>
                        <a:srgbClr val="D9DDE3"/>
                      </a:solidFill>
                      <a:prstDash val="solid"/>
                      <a:round/>
                      <a:headEnd type="none" w="med" len="med"/>
                      <a:tailEnd type="none" w="med" len="med"/>
                    </a:lnT>
                    <a:lnB w="6350" cap="flat" cmpd="sng" algn="ctr">
                      <a:solidFill>
                        <a:srgbClr val="D9DDE3"/>
                      </a:solidFill>
                      <a:prstDash val="solid"/>
                      <a:round/>
                      <a:headEnd type="none" w="med" len="med"/>
                      <a:tailEnd type="none" w="med" len="med"/>
                    </a:lnB>
                    <a:solidFill>
                      <a:srgbClr val="FFFFFF"/>
                    </a:solidFill>
                  </a:tcPr>
                </a:tc>
                <a:tc>
                  <a:txBody>
                    <a:bodyPr/>
                    <a:lstStyle/>
                    <a:p>
                      <a:pPr indent="0" marL="0">
                        <a:buNone/>
                      </a:pPr>
                      <a:r>
                        <a:rPr lang="en-US" sz="1100" dirty="0">
                          <a:solidFill>
                            <a:srgbClr val="0B0B0B"/>
                          </a:solidFill>
                        </a:rPr>
                        <a:t>6,744 high-frequency mature</a:t>
                      </a:r>
                      <a:endParaRPr lang="en-US" sz="1100" dirty="0"/>
                    </a:p>
                  </a:txBody>
                  <a:tcPr marL="45720" marR="45720" marT="45720" marB="45720" anchor="ctr">
                    <a:lnL w="6350" cap="flat" cmpd="sng" algn="ctr">
                      <a:solidFill>
                        <a:srgbClr val="D9DDE3"/>
                      </a:solidFill>
                      <a:prstDash val="solid"/>
                      <a:round/>
                      <a:headEnd type="none" w="med" len="med"/>
                      <a:tailEnd type="none" w="med" len="med"/>
                    </a:lnL>
                    <a:lnR w="6350" cap="flat" cmpd="sng" algn="ctr">
                      <a:solidFill>
                        <a:srgbClr val="D9DDE3"/>
                      </a:solidFill>
                      <a:prstDash val="solid"/>
                      <a:round/>
                      <a:headEnd type="none" w="med" len="med"/>
                      <a:tailEnd type="none" w="med" len="med"/>
                    </a:lnR>
                    <a:lnT w="6350" cap="flat" cmpd="sng" algn="ctr">
                      <a:solidFill>
                        <a:srgbClr val="D9DDE3"/>
                      </a:solidFill>
                      <a:prstDash val="solid"/>
                      <a:round/>
                      <a:headEnd type="none" w="med" len="med"/>
                      <a:tailEnd type="none" w="med" len="med"/>
                    </a:lnT>
                    <a:lnB w="6350" cap="flat" cmpd="sng" algn="ctr">
                      <a:solidFill>
                        <a:srgbClr val="D9DDE3"/>
                      </a:solidFill>
                      <a:prstDash val="solid"/>
                      <a:round/>
                      <a:headEnd type="none" w="med" len="med"/>
                      <a:tailEnd type="none" w="med" len="med"/>
                    </a:lnB>
                    <a:solidFill>
                      <a:srgbClr val="FFFFFF"/>
                    </a:solidFill>
                  </a:tcPr>
                </a:tc>
                <a:tc>
                  <a:txBody>
                    <a:bodyPr/>
                    <a:lstStyle/>
                    <a:p>
                      <a:pPr indent="0" marL="0">
                        <a:buNone/>
                      </a:pPr>
                      <a:r>
                        <a:rPr lang="en-US" sz="1100" dirty="0">
                          <a:solidFill>
                            <a:srgbClr val="0B0B0B"/>
                          </a:solidFill>
                        </a:rPr>
                        <a:t>8%</a:t>
                      </a:r>
                      <a:endParaRPr lang="en-US" sz="1100" dirty="0"/>
                    </a:p>
                  </a:txBody>
                  <a:tcPr marL="45720" marR="45720" marT="45720" marB="45720" anchor="ctr">
                    <a:lnL w="6350" cap="flat" cmpd="sng" algn="ctr">
                      <a:solidFill>
                        <a:srgbClr val="D9DDE3"/>
                      </a:solidFill>
                      <a:prstDash val="solid"/>
                      <a:round/>
                      <a:headEnd type="none" w="med" len="med"/>
                      <a:tailEnd type="none" w="med" len="med"/>
                    </a:lnL>
                    <a:lnR w="6350" cap="flat" cmpd="sng" algn="ctr">
                      <a:solidFill>
                        <a:srgbClr val="D9DDE3"/>
                      </a:solidFill>
                      <a:prstDash val="solid"/>
                      <a:round/>
                      <a:headEnd type="none" w="med" len="med"/>
                      <a:tailEnd type="none" w="med" len="med"/>
                    </a:lnR>
                    <a:lnT w="6350" cap="flat" cmpd="sng" algn="ctr">
                      <a:solidFill>
                        <a:srgbClr val="D9DDE3"/>
                      </a:solidFill>
                      <a:prstDash val="solid"/>
                      <a:round/>
                      <a:headEnd type="none" w="med" len="med"/>
                      <a:tailEnd type="none" w="med" len="med"/>
                    </a:lnT>
                    <a:lnB w="6350" cap="flat" cmpd="sng" algn="ctr">
                      <a:solidFill>
                        <a:srgbClr val="D9DDE3"/>
                      </a:solidFill>
                      <a:prstDash val="solid"/>
                      <a:round/>
                      <a:headEnd type="none" w="med" len="med"/>
                      <a:tailEnd type="none" w="med" len="med"/>
                    </a:lnB>
                    <a:solidFill>
                      <a:srgbClr val="FFFFFF"/>
                    </a:solidFill>
                  </a:tcPr>
                </a:tc>
                <a:tc>
                  <a:txBody>
                    <a:bodyPr/>
                    <a:lstStyle/>
                    <a:p>
                      <a:pPr indent="0" marL="0">
                        <a:buNone/>
                      </a:pPr>
                      <a:r>
                        <a:rPr lang="en-US" sz="1100" dirty="0">
                          <a:solidFill>
                            <a:srgbClr val="0B0B0B"/>
                          </a:solidFill>
                        </a:rPr>
                        <a:t>never</a:t>
                      </a:r>
                      <a:endParaRPr lang="en-US" sz="1100" dirty="0"/>
                    </a:p>
                  </a:txBody>
                  <a:tcPr marL="45720" marR="45720" marT="45720" marB="45720" anchor="ctr">
                    <a:lnL w="6350" cap="flat" cmpd="sng" algn="ctr">
                      <a:solidFill>
                        <a:srgbClr val="D9DDE3"/>
                      </a:solidFill>
                      <a:prstDash val="solid"/>
                      <a:round/>
                      <a:headEnd type="none" w="med" len="med"/>
                      <a:tailEnd type="none" w="med" len="med"/>
                    </a:lnL>
                    <a:lnR w="6350" cap="flat" cmpd="sng" algn="ctr">
                      <a:solidFill>
                        <a:srgbClr val="D9DDE3"/>
                      </a:solidFill>
                      <a:prstDash val="solid"/>
                      <a:round/>
                      <a:headEnd type="none" w="med" len="med"/>
                      <a:tailEnd type="none" w="med" len="med"/>
                    </a:lnR>
                    <a:lnT w="6350" cap="flat" cmpd="sng" algn="ctr">
                      <a:solidFill>
                        <a:srgbClr val="D9DDE3"/>
                      </a:solidFill>
                      <a:prstDash val="solid"/>
                      <a:round/>
                      <a:headEnd type="none" w="med" len="med"/>
                      <a:tailEnd type="none" w="med" len="med"/>
                    </a:lnT>
                    <a:lnB w="6350" cap="flat" cmpd="sng" algn="ctr">
                      <a:solidFill>
                        <a:srgbClr val="D9DDE3"/>
                      </a:solidFill>
                      <a:prstDash val="solid"/>
                      <a:round/>
                      <a:headEnd type="none" w="med" len="med"/>
                      <a:tailEnd type="none" w="med" len="med"/>
                    </a:lnB>
                    <a:solidFill>
                      <a:srgbClr val="FFFFFF"/>
                    </a:solidFill>
                  </a:tcPr>
                </a:tc>
              </a:tr>
            </a:tbl>
          </a:graphicData>
        </a:graphic>
      </p:graphicFrame>
      <p:sp>
        <p:nvSpPr>
          <p:cNvPr id="29" name="badge Simulated"/>
          <p:cNvSpPr/>
          <p:nvPr/>
        </p:nvSpPr>
        <p:spPr>
          <a:xfrm>
            <a:off x="6537960" y="4343400"/>
            <a:ext cx="237744" cy="237744"/>
          </a:xfrm>
          <a:prstGeom prst="roundRect">
            <a:avLst>
              <a:gd name="adj" fmla="val 19231"/>
            </a:avLst>
          </a:prstGeom>
          <a:solidFill>
            <a:srgbClr val="6250D6"/>
          </a:solidFill>
          <a:ln w="12700">
            <a:solidFill>
              <a:srgbClr val="6250D6"/>
            </a:solidFill>
            <a:prstDash val="solid"/>
          </a:ln>
        </p:spPr>
      </p:sp>
      <p:sp>
        <p:nvSpPr>
          <p:cNvPr id="30" name="Text 27"/>
          <p:cNvSpPr txBox="1"/>
          <p:nvPr/>
        </p:nvSpPr>
        <p:spPr>
          <a:xfrm>
            <a:off x="6537960" y="4343400"/>
            <a:ext cx="237744" cy="237744"/>
          </a:xfrm>
          <a:prstGeom prst="rect">
            <a:avLst/>
          </a:prstGeom>
          <a:noFill/>
          <a:ln/>
        </p:spPr>
        <p:txBody>
          <a:bodyPr wrap="square" lIns="0" tIns="0" rIns="0" bIns="0" rtlCol="0" anchor="ctr"/>
          <a:lstStyle/>
          <a:p>
            <a:pPr algn="ctr" indent="0" marL="0">
              <a:buNone/>
            </a:pPr>
            <a:r>
              <a:rPr lang="en-US" sz="1000" b="1" dirty="0">
                <a:solidFill>
                  <a:srgbClr val="FFFFFF"/>
                </a:solidFill>
              </a:rPr>
              <a:t>S</a:t>
            </a:r>
            <a:endParaRPr lang="en-US" sz="1000" dirty="0"/>
          </a:p>
        </p:txBody>
      </p:sp>
      <p:sp>
        <p:nvSpPr>
          <p:cNvPr id="31" name="Text 28"/>
          <p:cNvSpPr txBox="1"/>
          <p:nvPr/>
        </p:nvSpPr>
        <p:spPr>
          <a:xfrm>
            <a:off x="6867144" y="4315968"/>
            <a:ext cx="4864608" cy="685800"/>
          </a:xfrm>
          <a:prstGeom prst="rect">
            <a:avLst/>
          </a:prstGeom>
          <a:noFill/>
          <a:ln/>
        </p:spPr>
        <p:txBody>
          <a:bodyPr wrap="square" lIns="0" tIns="0" rIns="0" bIns="0" rtlCol="0" anchor="t"/>
          <a:lstStyle/>
          <a:p>
            <a:pPr indent="0" marL="0">
              <a:buNone/>
            </a:pPr>
            <a:r>
              <a:rPr lang="en-US" sz="1150" dirty="0">
                <a:solidFill>
                  <a:srgbClr val="52514E"/>
                </a:solidFill>
              </a:rPr>
              <a:t>Break-even after the rewards HSIC funds; inputs are Assumed. O8 pays on noise: 91% of its segment's card spend would earn the bonus with no change in behaviour.</a:t>
            </a:r>
            <a:endParaRPr lang="en-US" sz="1150" dirty="0"/>
          </a:p>
        </p:txBody>
      </p:sp>
      <p:sp>
        <p:nvSpPr>
          <p:cNvPr id="32" name="badge Measured"/>
          <p:cNvSpPr/>
          <p:nvPr/>
        </p:nvSpPr>
        <p:spPr>
          <a:xfrm>
            <a:off x="6537960" y="5120640"/>
            <a:ext cx="237744" cy="237744"/>
          </a:xfrm>
          <a:prstGeom prst="roundRect">
            <a:avLst>
              <a:gd name="adj" fmla="val 19231"/>
            </a:avLst>
          </a:prstGeom>
          <a:solidFill>
            <a:srgbClr val="0B0B0B"/>
          </a:solidFill>
          <a:ln w="12700">
            <a:solidFill>
              <a:srgbClr val="0B0B0B"/>
            </a:solidFill>
            <a:prstDash val="solid"/>
          </a:ln>
        </p:spPr>
      </p:sp>
      <p:sp>
        <p:nvSpPr>
          <p:cNvPr id="33" name="Text 30"/>
          <p:cNvSpPr txBox="1"/>
          <p:nvPr/>
        </p:nvSpPr>
        <p:spPr>
          <a:xfrm>
            <a:off x="6537960" y="5120640"/>
            <a:ext cx="237744" cy="237744"/>
          </a:xfrm>
          <a:prstGeom prst="rect">
            <a:avLst/>
          </a:prstGeom>
          <a:noFill/>
          <a:ln/>
        </p:spPr>
        <p:txBody>
          <a:bodyPr wrap="square" lIns="0" tIns="0" rIns="0" bIns="0" rtlCol="0" anchor="ctr"/>
          <a:lstStyle/>
          <a:p>
            <a:pPr algn="ctr" indent="0" marL="0">
              <a:buNone/>
            </a:pPr>
            <a:r>
              <a:rPr lang="en-US" sz="1000" b="1" dirty="0">
                <a:solidFill>
                  <a:srgbClr val="FFFFFF"/>
                </a:solidFill>
              </a:rPr>
              <a:t>M</a:t>
            </a:r>
            <a:endParaRPr lang="en-US" sz="1000" dirty="0"/>
          </a:p>
        </p:txBody>
      </p:sp>
      <p:sp>
        <p:nvSpPr>
          <p:cNvPr id="34" name="Text 31"/>
          <p:cNvSpPr txBox="1"/>
          <p:nvPr/>
        </p:nvSpPr>
        <p:spPr>
          <a:xfrm>
            <a:off x="6867144" y="5093208"/>
            <a:ext cx="4864608" cy="777240"/>
          </a:xfrm>
          <a:prstGeom prst="rect">
            <a:avLst/>
          </a:prstGeom>
          <a:noFill/>
          <a:ln/>
        </p:spPr>
        <p:txBody>
          <a:bodyPr wrap="square" lIns="0" tIns="0" rIns="0" bIns="0" rtlCol="0" anchor="t"/>
          <a:lstStyle/>
          <a:p>
            <a:pPr indent="0" marL="0">
              <a:buNone/>
            </a:pPr>
            <a:r>
              <a:rPr lang="en-US" sz="1150" dirty="0">
                <a:solidFill>
                  <a:srgbClr val="52514E"/>
                </a:solidFill>
              </a:rPr>
              <a:t>Triggers must fit how rarely people shop: no one made 5 small HSIC purchases in a month (the most was 3), and 3 uses in 60 days reached 0.1% of new cards. So the small-basket bonus pays per visit, and the young-card milestone is the first use, which 15% of new cards reach in 60 days.</a:t>
            </a:r>
            <a:endParaRPr lang="en-US" sz="1150" dirty="0"/>
          </a:p>
        </p:txBody>
      </p:sp>
      <p:sp>
        <p:nvSpPr>
          <p:cNvPr id="25" name="Slide Number Placeholder 0"/>
          <p:cNvSpPr>
            <a:spLocks noGrp="1"/>
          </p:cNvSpPr>
          <p:nvPr>
            <p:ph type="sldNum" sz="quarter" idx="4294967295"/>
          </p:nvPr>
        </p:nvSpPr>
        <p:spPr>
          <a:xfrm>
            <a:off x="11338560" y="6446520"/>
            <a:ext cx="39319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98781"/>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548640"/>
            <a:ext cx="11247120" cy="1188720"/>
          </a:xfrm>
          <a:prstGeom prst="rect">
            <a:avLst/>
          </a:prstGeom>
          <a:noFill/>
          <a:ln/>
        </p:spPr>
        <p:txBody>
          <a:bodyPr wrap="square" lIns="0" tIns="0" rIns="0" bIns="0" rtlCol="0" anchor="t"/>
          <a:lstStyle/>
          <a:p>
            <a:pPr indent="0" marL="0">
              <a:buNone/>
            </a:pPr>
            <a:r>
              <a:rPr lang="en-US" sz="3000" b="1" dirty="0">
                <a:solidFill>
                  <a:srgbClr val="FFFFFF"/>
                </a:solidFill>
              </a:rPr>
              <a:t>The margin on moved spend is thin: pilot the cheap fixes first and ask MetroMart to co-fund</a:t>
            </a:r>
            <a:endParaRPr lang="en-US" sz="3000" dirty="0"/>
          </a:p>
        </p:txBody>
      </p:sp>
      <p:sp>
        <p:nvSpPr>
          <p:cNvPr id="3" name="Shape 1"/>
          <p:cNvSpPr/>
          <p:nvPr/>
        </p:nvSpPr>
        <p:spPr>
          <a:xfrm>
            <a:off x="457200" y="1874520"/>
            <a:ext cx="6217920" cy="3577590"/>
          </a:xfrm>
          <a:prstGeom prst="roundRect">
            <a:avLst>
              <a:gd name="adj" fmla="val 2045"/>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pic>
        <p:nvPicPr>
          <p:cNvPr id="4" name="Image 0" descr="11_net_margin_waterfall.png">    </p:cNvPr>
          <p:cNvPicPr>
            <a:picLocks noChangeAspect="1"/>
          </p:cNvPicPr>
          <p:nvPr/>
        </p:nvPicPr>
        <p:blipFill>
          <a:blip r:embed="rId1"/>
          <a:stretch>
            <a:fillRect/>
          </a:stretch>
        </p:blipFill>
        <p:spPr>
          <a:xfrm>
            <a:off x="548640" y="1965960"/>
            <a:ext cx="6035040" cy="3394710"/>
          </a:xfrm>
          <a:prstGeom prst="rect">
            <a:avLst/>
          </a:prstGeom>
        </p:spPr>
      </p:pic>
      <p:sp>
        <p:nvSpPr>
          <p:cNvPr id="5" name="Text 2"/>
          <p:cNvSpPr txBox="1"/>
          <p:nvPr/>
        </p:nvSpPr>
        <p:spPr>
          <a:xfrm>
            <a:off x="457200" y="5596128"/>
            <a:ext cx="6217920" cy="502920"/>
          </a:xfrm>
          <a:prstGeom prst="rect">
            <a:avLst/>
          </a:prstGeom>
          <a:noFill/>
          <a:ln/>
        </p:spPr>
        <p:txBody>
          <a:bodyPr wrap="square" lIns="0" tIns="0" rIns="0" bIns="0" rtlCol="0" anchor="t"/>
          <a:lstStyle/>
          <a:p>
            <a:pPr indent="0" marL="0">
              <a:buNone/>
            </a:pPr>
            <a:r>
              <a:rPr lang="en-US" sz="1200" dirty="0">
                <a:solidFill>
                  <a:srgbClr val="DCE3EE"/>
                </a:solidFill>
              </a:rPr>
              <a:t>Per ₹100 moved to HSIC (base): +₹2.05 on general spend, +₹0.25 on Prime grocery. Conservative: +₹0.10 and −₹3.50.</a:t>
            </a:r>
            <a:endParaRPr lang="en-US" sz="1200" dirty="0"/>
          </a:p>
        </p:txBody>
      </p:sp>
      <p:sp>
        <p:nvSpPr>
          <p:cNvPr id="6" name="Text 3"/>
          <p:cNvSpPr txBox="1"/>
          <p:nvPr/>
        </p:nvSpPr>
        <p:spPr>
          <a:xfrm>
            <a:off x="6949440" y="1874520"/>
            <a:ext cx="4416552" cy="320040"/>
          </a:xfrm>
          <a:prstGeom prst="rect">
            <a:avLst/>
          </a:prstGeom>
          <a:noFill/>
          <a:ln/>
        </p:spPr>
        <p:txBody>
          <a:bodyPr wrap="square" lIns="0" tIns="0" rIns="0" bIns="0" rtlCol="0" anchor="t"/>
          <a:lstStyle/>
          <a:p>
            <a:pPr indent="0" marL="0">
              <a:buNone/>
            </a:pPr>
            <a:r>
              <a:rPr lang="en-US" sz="1500" b="1" dirty="0">
                <a:solidFill>
                  <a:srgbClr val="FFFFFF"/>
                </a:solidFill>
              </a:rPr>
              <a:t>Pilot</a:t>
            </a:r>
            <a:endParaRPr lang="en-US" sz="1500" dirty="0"/>
          </a:p>
        </p:txBody>
      </p:sp>
      <p:sp>
        <p:nvSpPr>
          <p:cNvPr id="7" name="badge Simulated"/>
          <p:cNvSpPr/>
          <p:nvPr/>
        </p:nvSpPr>
        <p:spPr>
          <a:xfrm>
            <a:off x="11494008" y="1911096"/>
            <a:ext cx="237744" cy="237744"/>
          </a:xfrm>
          <a:prstGeom prst="roundRect">
            <a:avLst>
              <a:gd name="adj" fmla="val 19231"/>
            </a:avLst>
          </a:prstGeom>
          <a:solidFill>
            <a:srgbClr val="6250D6"/>
          </a:solidFill>
          <a:ln w="12700">
            <a:solidFill>
              <a:srgbClr val="6250D6"/>
            </a:solidFill>
            <a:prstDash val="solid"/>
          </a:ln>
        </p:spPr>
      </p:sp>
      <p:sp>
        <p:nvSpPr>
          <p:cNvPr id="8" name="Text 5"/>
          <p:cNvSpPr txBox="1"/>
          <p:nvPr/>
        </p:nvSpPr>
        <p:spPr>
          <a:xfrm>
            <a:off x="11494008" y="1911096"/>
            <a:ext cx="237744" cy="237744"/>
          </a:xfrm>
          <a:prstGeom prst="rect">
            <a:avLst/>
          </a:prstGeom>
          <a:noFill/>
          <a:ln/>
        </p:spPr>
        <p:txBody>
          <a:bodyPr wrap="square" lIns="0" tIns="0" rIns="0" bIns="0" rtlCol="0" anchor="ctr"/>
          <a:lstStyle/>
          <a:p>
            <a:pPr algn="ctr" indent="0" marL="0">
              <a:buNone/>
            </a:pPr>
            <a:r>
              <a:rPr lang="en-US" sz="1000" b="1" dirty="0">
                <a:solidFill>
                  <a:srgbClr val="FFFFFF"/>
                </a:solidFill>
              </a:rPr>
              <a:t>S</a:t>
            </a:r>
            <a:endParaRPr lang="en-US" sz="1000" dirty="0"/>
          </a:p>
        </p:txBody>
      </p:sp>
      <p:sp>
        <p:nvSpPr>
          <p:cNvPr id="9" name="Text 6"/>
          <p:cNvSpPr txBox="1"/>
          <p:nvPr/>
        </p:nvSpPr>
        <p:spPr>
          <a:xfrm>
            <a:off x="6949440" y="2221992"/>
            <a:ext cx="4782312" cy="1005840"/>
          </a:xfrm>
          <a:prstGeom prst="rect">
            <a:avLst/>
          </a:prstGeom>
          <a:noFill/>
          <a:ln/>
        </p:spPr>
        <p:txBody>
          <a:bodyPr wrap="square" lIns="0" tIns="0" rIns="0" bIns="0" rtlCol="0" anchor="t"/>
          <a:lstStyle/>
          <a:p>
            <a:pPr indent="0" marL="0">
              <a:buNone/>
            </a:pPr>
            <a:r>
              <a:rPr lang="en-US" sz="1250" dirty="0">
                <a:solidFill>
                  <a:srgbClr val="DCE3EE"/>
                </a:solidFill>
              </a:rPr>
              <a:t>Randomised 10% holdout per offer and segment. Across the grid it detects a 1.8 pts change in HSIC share in 3 months; one box needs 2.6 pts to 6.1 pts, so read at grid level or run 6 months. Scale only if the lift's CI excludes 0 and net value &gt; 0.</a:t>
            </a:r>
            <a:endParaRPr lang="en-US" sz="1250" dirty="0"/>
          </a:p>
        </p:txBody>
      </p:sp>
      <p:sp>
        <p:nvSpPr>
          <p:cNvPr id="10" name="Text 7"/>
          <p:cNvSpPr txBox="1"/>
          <p:nvPr/>
        </p:nvSpPr>
        <p:spPr>
          <a:xfrm>
            <a:off x="6949440" y="3291840"/>
            <a:ext cx="4416552" cy="320040"/>
          </a:xfrm>
          <a:prstGeom prst="rect">
            <a:avLst/>
          </a:prstGeom>
          <a:noFill/>
          <a:ln/>
        </p:spPr>
        <p:txBody>
          <a:bodyPr wrap="square" lIns="0" tIns="0" rIns="0" bIns="0" rtlCol="0" anchor="t"/>
          <a:lstStyle/>
          <a:p>
            <a:pPr indent="0" marL="0">
              <a:buNone/>
            </a:pPr>
            <a:r>
              <a:rPr lang="en-US" sz="1500" b="1" dirty="0">
                <a:solidFill>
                  <a:srgbClr val="FFFFFF"/>
                </a:solidFill>
              </a:rPr>
              <a:t>What the pilot tests</a:t>
            </a:r>
            <a:endParaRPr lang="en-US" sz="1500" dirty="0"/>
          </a:p>
        </p:txBody>
      </p:sp>
      <p:sp>
        <p:nvSpPr>
          <p:cNvPr id="11" name="badge Hypothesis"/>
          <p:cNvSpPr/>
          <p:nvPr/>
        </p:nvSpPr>
        <p:spPr>
          <a:xfrm>
            <a:off x="11494008" y="3328416"/>
            <a:ext cx="237744" cy="237744"/>
          </a:xfrm>
          <a:prstGeom prst="roundRect">
            <a:avLst>
              <a:gd name="adj" fmla="val 19231"/>
            </a:avLst>
          </a:prstGeom>
          <a:solidFill>
            <a:srgbClr val="E34948"/>
          </a:solidFill>
          <a:ln w="12700">
            <a:solidFill>
              <a:srgbClr val="E34948"/>
            </a:solidFill>
            <a:prstDash val="solid"/>
          </a:ln>
        </p:spPr>
      </p:sp>
      <p:sp>
        <p:nvSpPr>
          <p:cNvPr id="12" name="Text 9"/>
          <p:cNvSpPr txBox="1"/>
          <p:nvPr/>
        </p:nvSpPr>
        <p:spPr>
          <a:xfrm>
            <a:off x="11494008" y="3328416"/>
            <a:ext cx="237744" cy="237744"/>
          </a:xfrm>
          <a:prstGeom prst="rect">
            <a:avLst/>
          </a:prstGeom>
          <a:noFill/>
          <a:ln/>
        </p:spPr>
        <p:txBody>
          <a:bodyPr wrap="square" lIns="0" tIns="0" rIns="0" bIns="0" rtlCol="0" anchor="ctr"/>
          <a:lstStyle/>
          <a:p>
            <a:pPr algn="ctr" indent="0" marL="0">
              <a:buNone/>
            </a:pPr>
            <a:r>
              <a:rPr lang="en-US" sz="1000" b="1" dirty="0">
                <a:solidFill>
                  <a:srgbClr val="FFFFFF"/>
                </a:solidFill>
              </a:rPr>
              <a:t>H</a:t>
            </a:r>
            <a:endParaRPr lang="en-US" sz="1000" dirty="0"/>
          </a:p>
        </p:txBody>
      </p:sp>
      <p:sp>
        <p:nvSpPr>
          <p:cNvPr id="13" name="Text 10"/>
          <p:cNvSpPr txBox="1"/>
          <p:nvPr/>
        </p:nvSpPr>
        <p:spPr>
          <a:xfrm>
            <a:off x="6949440" y="3639312"/>
            <a:ext cx="4782312" cy="1005840"/>
          </a:xfrm>
          <a:prstGeom prst="rect">
            <a:avLst/>
          </a:prstGeom>
          <a:noFill/>
          <a:ln/>
        </p:spPr>
        <p:txBody>
          <a:bodyPr wrap="square" lIns="0" tIns="0" rIns="0" bIns="0" rtlCol="0" anchor="t"/>
          <a:lstStyle/>
          <a:p>
            <a:pPr indent="0" marL="0">
              <a:buNone/>
            </a:pPr>
            <a:r>
              <a:rPr lang="en-US" sz="1250" dirty="0">
                <a:solidFill>
                  <a:srgbClr val="DCE3EE"/>
                </a:solidFill>
              </a:rPr>
              <a:t>Reward visibility vs holdout: is it awareness? Instant cashback vs holdout: is it immediacy? A null result is reported as a refuted hypothesis.</a:t>
            </a:r>
            <a:endParaRPr lang="en-US" sz="1250" dirty="0"/>
          </a:p>
        </p:txBody>
      </p:sp>
      <p:sp>
        <p:nvSpPr>
          <p:cNvPr id="14" name="Text 11"/>
          <p:cNvSpPr txBox="1"/>
          <p:nvPr/>
        </p:nvSpPr>
        <p:spPr>
          <a:xfrm>
            <a:off x="6949440" y="4709160"/>
            <a:ext cx="4416552" cy="320040"/>
          </a:xfrm>
          <a:prstGeom prst="rect">
            <a:avLst/>
          </a:prstGeom>
          <a:noFill/>
          <a:ln/>
        </p:spPr>
        <p:txBody>
          <a:bodyPr wrap="square" lIns="0" tIns="0" rIns="0" bIns="0" rtlCol="0" anchor="t"/>
          <a:lstStyle/>
          <a:p>
            <a:pPr indent="0" marL="0">
              <a:buNone/>
            </a:pPr>
            <a:r>
              <a:rPr lang="en-US" sz="1500" b="1" dirty="0">
                <a:solidFill>
                  <a:srgbClr val="FFFFFF"/>
                </a:solidFill>
              </a:rPr>
              <a:t>Asks</a:t>
            </a:r>
            <a:endParaRPr lang="en-US" sz="1500" dirty="0"/>
          </a:p>
        </p:txBody>
      </p:sp>
      <p:sp>
        <p:nvSpPr>
          <p:cNvPr id="15" name="Text 12"/>
          <p:cNvSpPr txBox="1"/>
          <p:nvPr/>
        </p:nvSpPr>
        <p:spPr>
          <a:xfrm>
            <a:off x="6949440" y="5056632"/>
            <a:ext cx="4782312" cy="1005840"/>
          </a:xfrm>
          <a:prstGeom prst="rect">
            <a:avLst/>
          </a:prstGeom>
          <a:noFill/>
          <a:ln/>
        </p:spPr>
        <p:txBody>
          <a:bodyPr wrap="square" lIns="0" tIns="0" rIns="0" bIns="0" rtlCol="0" anchor="t"/>
          <a:lstStyle/>
          <a:p>
            <a:pPr indent="0" marL="0">
              <a:buNone/>
            </a:pPr>
            <a:r>
              <a:rPr lang="en-US" sz="1250" dirty="0">
                <a:solidFill>
                  <a:srgbClr val="DCE3EE"/>
                </a:solidFill>
              </a:rPr>
              <a:t>HSIC: ship reward visibility, pilot instant cashback, start UPI linkage, protect first-year cards, offer win-back. MetroMart: co-fund Prime category rewards. Without it, reward visibility on those baskets needs revolve income of 1.6% of spend to pay back.</a:t>
            </a:r>
            <a:endParaRPr lang="en-US" sz="1250" dirty="0"/>
          </a:p>
        </p:txBody>
      </p:sp>
      <p:sp>
        <p:nvSpPr>
          <p:cNvPr id="16" name="Text 13"/>
          <p:cNvSpPr txBox="1"/>
          <p:nvPr/>
        </p:nvSpPr>
        <p:spPr>
          <a:xfrm>
            <a:off x="457200" y="6172200"/>
            <a:ext cx="10789920" cy="411480"/>
          </a:xfrm>
          <a:prstGeom prst="rect">
            <a:avLst/>
          </a:prstGeom>
          <a:noFill/>
          <a:ln/>
        </p:spPr>
        <p:txBody>
          <a:bodyPr wrap="square" lIns="0" tIns="0" rIns="0" bIns="0" rtlCol="0" anchor="t"/>
          <a:lstStyle/>
          <a:p>
            <a:pPr indent="0" marL="0">
              <a:buNone/>
            </a:pPr>
            <a:r>
              <a:rPr lang="en-US" sz="1000" dirty="0">
                <a:solidFill>
                  <a:srgbClr val="AEB8C8"/>
                </a:solidFill>
              </a:rPr>
              <a:t>Assumed: interchange 1.5–2%, revolve income 0–2% of spend, MetroMart co-funding 0–50%, cost of funds 8%, EMI subvention 3%. Measured: reward rate 1.40% on FY26 HSIC spend. Operating costs excluded, so break-evens are floors.</a:t>
            </a:r>
            <a:endParaRPr lang="en-US" sz="1000" dirty="0"/>
          </a:p>
        </p:txBody>
      </p:sp>
      <p:sp>
        <p:nvSpPr>
          <p:cNvPr id="25" name="Slide Number Placeholder 0"/>
          <p:cNvSpPr>
            <a:spLocks noGrp="1"/>
          </p:cNvSpPr>
          <p:nvPr>
            <p:ph type="sldNum" sz="quarter" idx="4294967295"/>
          </p:nvPr>
        </p:nvSpPr>
        <p:spPr>
          <a:xfrm>
            <a:off x="11338560" y="6446520"/>
            <a:ext cx="39319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EB8C8"/>
                </a:solidFill>
              </a:defRPr>
            </a:lvl1pPr>
          </a:lstStyle>
          <a:p>
            <a:pPr algn="r"/>
            <a:fld id="{F7021451-1387-4CA6-816F-3879F97B5CBC}" type="slidenum">
              <a:rPr b="0" lang="en-US"/>
              <a:t>6</a:t>
            </a:fld>
            <a:endParaRPr lang="en-US"/>
          </a:p>
        </p:txBody>
      </p:sp>
    </p:spTree>
  </p:cSld>
  <p:clrMapOvr>
    <a:masterClrMapping/>
  </p:clrMapOvr>
</p:sld>
</file>

<file path=ppt/theme/theme1.xml><?xml version="1.0" encoding="utf-8"?>
<a:theme xmlns:a="http://schemas.openxmlformats.org/drawingml/2006/main" name="HSIC Wallet">
  <a:themeElements>
    <a:clrScheme name="HSIC Wallet">
      <a:dk1>
        <a:srgbClr val="0B0B0B"/>
      </a:dk1>
      <a:lt1>
        <a:srgbClr val="FFFFFF"/>
      </a:lt1>
      <a:dk2>
        <a:srgbClr val="0F2747"/>
      </a:dk2>
      <a:lt2>
        <a:srgbClr val="F3F5F8"/>
      </a:lt2>
      <a:accent1>
        <a:srgbClr val="2A78D6"/>
      </a:accent1>
      <a:accent2>
        <a:srgbClr val="EB6834"/>
      </a:accent2>
      <a:accent3>
        <a:srgbClr val="1BAF7A"/>
      </a:accent3>
      <a:accent4>
        <a:srgbClr val="EDA100"/>
      </a:accent4>
      <a:accent5>
        <a:srgbClr val="6250D6"/>
      </a:accent5>
      <a:accent6>
        <a:srgbClr val="E34948"/>
      </a:accent6>
      <a:hlink>
        <a:srgbClr val="2A78D6"/>
      </a:hlink>
      <a:folHlink>
        <a:srgbClr val="6250D6"/>
      </a:folHlink>
    </a:clrScheme>
    <a:fontScheme name="HSIC Wallet">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HSIC x MetroMart: silent attrition and share of wallet</dc:title>
  <dc:subject>PptxGenJS Presentation</dc:subject>
  <dc:creator>Devansh Agarwal, Mayank Srivastava, Shreyash Tiwari</dc:creator>
  <cp:lastModifiedBy>Devansh Agarwal, Mayank Srivastava, Shreyash Tiwari</cp:lastModifiedBy>
  <cp:revision>1</cp:revision>
  <dcterms:created xsi:type="dcterms:W3CDTF">2026-10-24T07:13:53Z</dcterms:created>
  <dcterms:modified xsi:type="dcterms:W3CDTF">2026-10-24T07:13:53Z</dcterms:modified>
</cp:coreProperties>
</file>